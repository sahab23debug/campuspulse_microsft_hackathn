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731520" y="731520"/>
            <a:ext cx="7680960" cy="5303520"/>
          </a:xfrm>
          <a:prstGeom prst="roundRect">
            <a:avLst>
              <a:gd name="adj" fmla="val 3448"/>
            </a:avLst>
          </a:prstGeom>
          <a:solidFill>
            <a:srgbClr val="161E2E"/>
          </a:solidFill>
          <a:ln w="19050">
            <a:solidFill>
              <a:srgbClr val="6366F1"/>
            </a:solidFill>
            <a:prstDash val="solid"/>
          </a:ln>
        </p:spPr>
      </p:sp>
      <p:sp>
        <p:nvSpPr>
          <p:cNvPr id="3" name="Text 1"/>
          <p:cNvSpPr/>
          <p:nvPr/>
        </p:nvSpPr>
        <p:spPr>
          <a:xfrm>
            <a:off x="1097280" y="1097280"/>
            <a:ext cx="6949440" cy="365760"/>
          </a:xfrm>
          <a:prstGeom prst="rect">
            <a:avLst/>
          </a:prstGeom>
          <a:noFill/>
          <a:ln/>
        </p:spPr>
        <p:txBody>
          <a:bodyPr wrap="square" rtlCol="0" anchor="ctr"/>
          <a:lstStyle/>
          <a:p>
            <a:pPr indent="0" marL="0">
              <a:buNone/>
            </a:pPr>
            <a:r>
              <a:rPr lang="en-US" sz="1000" b="1" spc="150" kern="0" dirty="0">
                <a:solidFill>
                  <a:srgbClr val="06B6D4"/>
                </a:solidFill>
                <a:latin typeface="Arial" pitchFamily="34" charset="0"/>
                <a:ea typeface="Arial" pitchFamily="34" charset="-122"/>
                <a:cs typeface="Arial" pitchFamily="34" charset="-120"/>
              </a:rPr>
              <a:t>HACKATHON TRACK: CAMPUS LIFE, UPGRADED (FLUTTER + SERVERPOD)</a:t>
            </a:r>
            <a:endParaRPr lang="en-US" sz="1000" dirty="0"/>
          </a:p>
        </p:txBody>
      </p:sp>
      <p:sp>
        <p:nvSpPr>
          <p:cNvPr id="4" name="Text 2"/>
          <p:cNvSpPr/>
          <p:nvPr/>
        </p:nvSpPr>
        <p:spPr>
          <a:xfrm>
            <a:off x="1097280" y="1463040"/>
            <a:ext cx="6949440" cy="1005840"/>
          </a:xfrm>
          <a:prstGeom prst="rect">
            <a:avLst/>
          </a:prstGeom>
          <a:noFill/>
          <a:ln/>
        </p:spPr>
        <p:txBody>
          <a:bodyPr wrap="square" rtlCol="0" anchor="ctr"/>
          <a:lstStyle/>
          <a:p>
            <a:pPr indent="0" marL="0">
              <a:buNone/>
            </a:pPr>
            <a:r>
              <a:rPr lang="en-US" sz="4400" b="1" dirty="0">
                <a:solidFill>
                  <a:srgbClr val="F8FAFC"/>
                </a:solidFill>
                <a:latin typeface="Arial" pitchFamily="34" charset="0"/>
                <a:ea typeface="Arial" pitchFamily="34" charset="-122"/>
                <a:cs typeface="Arial" pitchFamily="34" charset="-120"/>
              </a:rPr>
              <a:t>CampusPulse</a:t>
            </a:r>
            <a:endParaRPr lang="en-US" sz="4400" dirty="0"/>
          </a:p>
        </p:txBody>
      </p:sp>
      <p:sp>
        <p:nvSpPr>
          <p:cNvPr id="5" name="Text 3"/>
          <p:cNvSpPr/>
          <p:nvPr/>
        </p:nvSpPr>
        <p:spPr>
          <a:xfrm>
            <a:off x="1097280" y="2468880"/>
            <a:ext cx="6949440" cy="548640"/>
          </a:xfrm>
          <a:prstGeom prst="rect">
            <a:avLst/>
          </a:prstGeom>
          <a:noFill/>
          <a:ln/>
        </p:spPr>
        <p:txBody>
          <a:bodyPr wrap="square" rtlCol="0" anchor="ctr"/>
          <a:lstStyle/>
          <a:p>
            <a:pPr indent="0" marL="0">
              <a:buNone/>
            </a:pPr>
            <a:r>
              <a:rPr lang="en-US" sz="1800" b="1" dirty="0">
                <a:solidFill>
                  <a:srgbClr val="6366F1"/>
                </a:solidFill>
                <a:latin typeface="Arial" pitchFamily="34" charset="0"/>
                <a:ea typeface="Arial" pitchFamily="34" charset="-122"/>
                <a:cs typeface="Arial" pitchFamily="34" charset="-120"/>
              </a:rPr>
              <a:t>AI-Native Browser with an Autonomous Multimodal Companion (AdaL)</a:t>
            </a:r>
            <a:endParaRPr lang="en-US" sz="1800" dirty="0"/>
          </a:p>
        </p:txBody>
      </p:sp>
      <p:sp>
        <p:nvSpPr>
          <p:cNvPr id="6" name="Shape 4"/>
          <p:cNvSpPr/>
          <p:nvPr/>
        </p:nvSpPr>
        <p:spPr>
          <a:xfrm>
            <a:off x="1097280" y="3200400"/>
            <a:ext cx="6949440" cy="0"/>
          </a:xfrm>
          <a:prstGeom prst="line">
            <a:avLst/>
          </a:prstGeom>
          <a:noFill/>
          <a:ln w="12700">
            <a:solidFill>
              <a:srgbClr val="334155"/>
            </a:solidFill>
            <a:prstDash val="solid"/>
          </a:ln>
        </p:spPr>
      </p:sp>
      <p:sp>
        <p:nvSpPr>
          <p:cNvPr id="7" name="Text 5"/>
          <p:cNvSpPr/>
          <p:nvPr/>
        </p:nvSpPr>
        <p:spPr>
          <a:xfrm>
            <a:off x="1097280" y="3474720"/>
            <a:ext cx="219456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THEME</a:t>
            </a:r>
            <a:endParaRPr lang="en-US" sz="1000" dirty="0"/>
          </a:p>
        </p:txBody>
      </p:sp>
      <p:sp>
        <p:nvSpPr>
          <p:cNvPr id="8" name="Text 6"/>
          <p:cNvSpPr/>
          <p:nvPr/>
        </p:nvSpPr>
        <p:spPr>
          <a:xfrm>
            <a:off x="3383280" y="3474720"/>
            <a:ext cx="4663440" cy="32004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Campus Life Spread Across WhatsApp, Posters, &amp; Spreadsheets</a:t>
            </a:r>
            <a:endParaRPr lang="en-US" sz="1200" dirty="0"/>
          </a:p>
        </p:txBody>
      </p:sp>
      <p:sp>
        <p:nvSpPr>
          <p:cNvPr id="9" name="Text 7"/>
          <p:cNvSpPr/>
          <p:nvPr/>
        </p:nvSpPr>
        <p:spPr>
          <a:xfrm>
            <a:off x="1097280" y="4023360"/>
            <a:ext cx="219456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TEAM NAME &amp; ID</a:t>
            </a:r>
            <a:endParaRPr lang="en-US" sz="1000" dirty="0"/>
          </a:p>
        </p:txBody>
      </p:sp>
      <p:sp>
        <p:nvSpPr>
          <p:cNvPr id="10" name="Text 8"/>
          <p:cNvSpPr/>
          <p:nvPr/>
        </p:nvSpPr>
        <p:spPr>
          <a:xfrm>
            <a:off x="3383280" y="4023360"/>
            <a:ext cx="4663440" cy="32004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Team AdaL (ID: CP-2026-X)</a:t>
            </a:r>
            <a:endParaRPr lang="en-US" sz="1200" dirty="0"/>
          </a:p>
        </p:txBody>
      </p:sp>
      <p:sp>
        <p:nvSpPr>
          <p:cNvPr id="11" name="Text 9"/>
          <p:cNvSpPr/>
          <p:nvPr/>
        </p:nvSpPr>
        <p:spPr>
          <a:xfrm>
            <a:off x="1097280" y="4572000"/>
            <a:ext cx="219456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COLLEGE / UNIVERSITY</a:t>
            </a:r>
            <a:endParaRPr lang="en-US" sz="1000" dirty="0"/>
          </a:p>
        </p:txBody>
      </p:sp>
      <p:sp>
        <p:nvSpPr>
          <p:cNvPr id="12" name="Text 10"/>
          <p:cNvSpPr/>
          <p:nvPr/>
        </p:nvSpPr>
        <p:spPr>
          <a:xfrm>
            <a:off x="3383280" y="4572000"/>
            <a:ext cx="4663440" cy="32004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University of California, Berkeley</a:t>
            </a:r>
            <a:endParaRPr lang="en-US" sz="1200" dirty="0"/>
          </a:p>
        </p:txBody>
      </p:sp>
      <p:sp>
        <p:nvSpPr>
          <p:cNvPr id="13" name="Text 11"/>
          <p:cNvSpPr/>
          <p:nvPr/>
        </p:nvSpPr>
        <p:spPr>
          <a:xfrm>
            <a:off x="1097280" y="5120640"/>
            <a:ext cx="219456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TECH STACK REQUIREMENTS</a:t>
            </a:r>
            <a:endParaRPr lang="en-US" sz="1000" dirty="0"/>
          </a:p>
        </p:txBody>
      </p:sp>
      <p:sp>
        <p:nvSpPr>
          <p:cNvPr id="14" name="Text 12"/>
          <p:cNvSpPr/>
          <p:nvPr/>
        </p:nvSpPr>
        <p:spPr>
          <a:xfrm>
            <a:off x="3383280" y="5120640"/>
            <a:ext cx="4663440" cy="320040"/>
          </a:xfrm>
          <a:prstGeom prst="rect">
            <a:avLst/>
          </a:prstGeom>
          <a:noFill/>
          <a:ln/>
        </p:spPr>
        <p:txBody>
          <a:bodyPr wrap="square" rtlCol="0" anchor="ctr"/>
          <a:lstStyle/>
          <a:p>
            <a:pPr indent="0" marL="0">
              <a:buNone/>
            </a:pPr>
            <a:r>
              <a:rPr lang="en-US" sz="1200" dirty="0">
                <a:solidFill>
                  <a:srgbClr val="F8FAFC"/>
                </a:solidFill>
                <a:latin typeface="Arial" pitchFamily="34" charset="0"/>
                <a:ea typeface="Arial" pitchFamily="34" charset="-122"/>
                <a:cs typeface="Arial" pitchFamily="34" charset="-120"/>
              </a:rPr>
              <a:t>Frontend: Flutter | Backend: Serverpod | Deployment: Serverpod Cloud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20040"/>
            <a:ext cx="8229600" cy="36576"/>
          </a:xfrm>
          <a:prstGeom prst="rect">
            <a:avLst/>
          </a:prstGeom>
          <a:solidFill>
            <a:srgbClr val="6366F1"/>
          </a:solidFill>
          <a:ln/>
        </p:spPr>
      </p:sp>
      <p:sp>
        <p:nvSpPr>
          <p:cNvPr id="3" name="Text 1"/>
          <p:cNvSpPr/>
          <p:nvPr/>
        </p:nvSpPr>
        <p:spPr>
          <a:xfrm>
            <a:off x="457200" y="6492240"/>
            <a:ext cx="68580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CampusPulse · Campus Life, Upgraded (Flutter + Serverpod) · AdaL Companion</a:t>
            </a:r>
            <a:endParaRPr lang="en-US" sz="900" dirty="0"/>
          </a:p>
        </p:txBody>
      </p:sp>
      <p:sp>
        <p:nvSpPr>
          <p:cNvPr id="4" name="Text 2"/>
          <p:cNvSpPr/>
          <p:nvPr/>
        </p:nvSpPr>
        <p:spPr>
          <a:xfrm>
            <a:off x="7772400" y="6492240"/>
            <a:ext cx="914400" cy="274320"/>
          </a:xfrm>
          <a:prstGeom prst="rect">
            <a:avLst/>
          </a:prstGeom>
          <a:noFill/>
          <a:ln/>
        </p:spPr>
        <p:txBody>
          <a:bodyPr wrap="square" rtlCol="0" anchor="ctr"/>
          <a:lstStyle/>
          <a:p>
            <a:pPr algn="r" indent="0" marL="0">
              <a:buNone/>
            </a:pPr>
            <a:r>
              <a:rPr lang="en-US" sz="900" b="1" dirty="0">
                <a:solidFill>
                  <a:srgbClr val="6366F1"/>
                </a:solidFill>
                <a:latin typeface="Arial" pitchFamily="34" charset="0"/>
                <a:ea typeface="Arial" pitchFamily="34" charset="-122"/>
                <a:cs typeface="Arial" pitchFamily="34" charset="-120"/>
              </a:rPr>
              <a:t>2 / 7</a:t>
            </a:r>
            <a:endParaRPr lang="en-US" sz="900" dirty="0"/>
          </a:p>
        </p:txBody>
      </p:sp>
      <p:sp>
        <p:nvSpPr>
          <p:cNvPr id="5" name="Text 3"/>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Slide 2: Problem + Existing Gap</a:t>
            </a:r>
            <a:endParaRPr lang="en-US" sz="2200" dirty="0"/>
          </a:p>
        </p:txBody>
      </p:sp>
      <p:sp>
        <p:nvSpPr>
          <p:cNvPr id="6" name="Shape 4"/>
          <p:cNvSpPr/>
          <p:nvPr/>
        </p:nvSpPr>
        <p:spPr>
          <a:xfrm>
            <a:off x="457200" y="1188720"/>
            <a:ext cx="4023360" cy="2286000"/>
          </a:xfrm>
          <a:prstGeom prst="roundRect">
            <a:avLst>
              <a:gd name="adj" fmla="val 6000"/>
            </a:avLst>
          </a:prstGeom>
          <a:solidFill>
            <a:srgbClr val="161E2E"/>
          </a:solidFill>
          <a:ln w="15240">
            <a:solidFill>
              <a:srgbClr val="F59E0B"/>
            </a:solidFill>
            <a:prstDash val="solid"/>
          </a:ln>
        </p:spPr>
      </p:sp>
      <p:sp>
        <p:nvSpPr>
          <p:cNvPr id="7" name="Text 5"/>
          <p:cNvSpPr/>
          <p:nvPr/>
        </p:nvSpPr>
        <p:spPr>
          <a:xfrm>
            <a:off x="685800" y="1371600"/>
            <a:ext cx="3566160" cy="365760"/>
          </a:xfrm>
          <a:prstGeom prst="rect">
            <a:avLst/>
          </a:prstGeom>
          <a:noFill/>
          <a:ln/>
        </p:spPr>
        <p:txBody>
          <a:bodyPr wrap="square" rtlCol="0" anchor="ctr"/>
          <a:lstStyle/>
          <a:p>
            <a:pPr indent="0" marL="0">
              <a:buNone/>
            </a:pPr>
            <a:r>
              <a:rPr lang="en-US" sz="1400" b="1" dirty="0">
                <a:solidFill>
                  <a:srgbClr val="F59E0B"/>
                </a:solidFill>
                <a:latin typeface="Arial" pitchFamily="34" charset="0"/>
                <a:ea typeface="Arial" pitchFamily="34" charset="-122"/>
                <a:cs typeface="Arial" pitchFamily="34" charset="-120"/>
              </a:rPr>
              <a:t>What is the Problem?</a:t>
            </a:r>
            <a:endParaRPr lang="en-US" sz="1400" dirty="0"/>
          </a:p>
        </p:txBody>
      </p:sp>
      <p:sp>
        <p:nvSpPr>
          <p:cNvPr id="8" name="Text 6"/>
          <p:cNvSpPr/>
          <p:nvPr/>
        </p:nvSpPr>
        <p:spPr>
          <a:xfrm>
            <a:off x="685800" y="1783080"/>
            <a:ext cx="3566160" cy="1463040"/>
          </a:xfrm>
          <a:prstGeom prst="rect">
            <a:avLst/>
          </a:prstGeom>
          <a:noFill/>
          <a:ln/>
        </p:spPr>
        <p:txBody>
          <a:bodyPr wrap="square" rtlCol="0" anchor="ctr"/>
          <a:lstStyle/>
          <a:p>
            <a:pPr indent="0" marL="0">
              <a:lnSpc>
                <a:spcPct val="115000"/>
              </a:lnSpc>
              <a:buNone/>
            </a:pPr>
            <a:r>
              <a:rPr lang="en-US" sz="1050" dirty="0">
                <a:solidFill>
                  <a:srgbClr val="F8FAFC"/>
                </a:solidFill>
                <a:latin typeface="Arial" pitchFamily="34" charset="0"/>
                <a:ea typeface="Arial" pitchFamily="34" charset="-122"/>
                <a:cs typeface="Arial" pitchFamily="34" charset="-120"/>
              </a:rPr>
              <a:t>Campus life is deeply fragmented. Crucial academic review jams, hackathon team calls, and study sessions are scattered across unorganized WhatsApp chats, physical paper flyers on campus boards, and temporary Google Sheets.</a:t>
            </a:r>
            <a:endParaRPr lang="en-US" sz="1050" dirty="0"/>
          </a:p>
        </p:txBody>
      </p:sp>
      <p:sp>
        <p:nvSpPr>
          <p:cNvPr id="9" name="Shape 7"/>
          <p:cNvSpPr/>
          <p:nvPr/>
        </p:nvSpPr>
        <p:spPr>
          <a:xfrm>
            <a:off x="4663440" y="1188720"/>
            <a:ext cx="4023360" cy="2286000"/>
          </a:xfrm>
          <a:prstGeom prst="roundRect">
            <a:avLst>
              <a:gd name="adj" fmla="val 6000"/>
            </a:avLst>
          </a:prstGeom>
          <a:solidFill>
            <a:srgbClr val="161E2E"/>
          </a:solidFill>
          <a:ln w="15240">
            <a:solidFill>
              <a:srgbClr val="06B6D4"/>
            </a:solidFill>
            <a:prstDash val="solid"/>
          </a:ln>
        </p:spPr>
      </p:sp>
      <p:sp>
        <p:nvSpPr>
          <p:cNvPr id="10" name="Text 8"/>
          <p:cNvSpPr/>
          <p:nvPr/>
        </p:nvSpPr>
        <p:spPr>
          <a:xfrm>
            <a:off x="4892040" y="1371600"/>
            <a:ext cx="3566160" cy="365760"/>
          </a:xfrm>
          <a:prstGeom prst="rect">
            <a:avLst/>
          </a:prstGeom>
          <a:noFill/>
          <a:ln/>
        </p:spPr>
        <p:txBody>
          <a:bodyPr wrap="square" rtlCol="0" anchor="ctr"/>
          <a:lstStyle/>
          <a:p>
            <a:pPr indent="0" marL="0">
              <a:buNone/>
            </a:pPr>
            <a:r>
              <a:rPr lang="en-US" sz="1400" b="1" dirty="0">
                <a:solidFill>
                  <a:srgbClr val="06B6D4"/>
                </a:solidFill>
                <a:latin typeface="Arial" pitchFamily="34" charset="0"/>
                <a:ea typeface="Arial" pitchFamily="34" charset="-122"/>
                <a:cs typeface="Arial" pitchFamily="34" charset="-120"/>
              </a:rPr>
              <a:t>Who is Affected?</a:t>
            </a:r>
            <a:endParaRPr lang="en-US" sz="1400" dirty="0"/>
          </a:p>
        </p:txBody>
      </p:sp>
      <p:sp>
        <p:nvSpPr>
          <p:cNvPr id="11" name="Text 9"/>
          <p:cNvSpPr/>
          <p:nvPr/>
        </p:nvSpPr>
        <p:spPr>
          <a:xfrm>
            <a:off x="4892040" y="1783080"/>
            <a:ext cx="3566160" cy="1463040"/>
          </a:xfrm>
          <a:prstGeom prst="rect">
            <a:avLst/>
          </a:prstGeom>
          <a:noFill/>
          <a:ln/>
        </p:spPr>
        <p:txBody>
          <a:bodyPr wrap="square" rtlCol="0" anchor="ctr"/>
          <a:lstStyle/>
          <a:p>
            <a:pPr indent="0" marL="0">
              <a:lnSpc>
                <a:spcPct val="115000"/>
              </a:lnSpc>
              <a:buNone/>
            </a:pPr>
            <a:r>
              <a:rPr lang="en-US" sz="1050" dirty="0">
                <a:solidFill>
                  <a:srgbClr val="F8FAFC"/>
                </a:solidFill>
                <a:latin typeface="Arial" pitchFamily="34" charset="0"/>
                <a:ea typeface="Arial" pitchFamily="34" charset="-122"/>
                <a:cs typeface="Arial" pitchFamily="34" charset="-120"/>
              </a:rPr>
              <a:t>• 40,000+ university students struggling to locate study partners for rigorous courses (CS 189, CS 162, Math 53).</a:t>
            </a:r>
            <a:endParaRPr lang="en-US" sz="1050" dirty="0"/>
          </a:p>
          <a:p>
            <a:pPr indent="0" marL="0">
              <a:lnSpc>
                <a:spcPct val="115000"/>
              </a:lnSpc>
              <a:buNone/>
            </a:pPr>
            <a:r>
              <a:rPr lang="en-US" sz="1050" dirty="0">
                <a:solidFill>
                  <a:srgbClr val="F8FAFC"/>
                </a:solidFill>
                <a:latin typeface="Arial" pitchFamily="34" charset="0"/>
                <a:ea typeface="Arial" pitchFamily="34" charset="-122"/>
                <a:cs typeface="Arial" pitchFamily="34" charset="-120"/>
              </a:rPr>
              <a:t>• Student club heads needing to reach active builders.</a:t>
            </a:r>
            <a:endParaRPr lang="en-US" sz="1050" dirty="0"/>
          </a:p>
          <a:p>
            <a:pPr indent="0" marL="0">
              <a:lnSpc>
                <a:spcPct val="115000"/>
              </a:lnSpc>
              <a:buNone/>
            </a:pPr>
            <a:r>
              <a:rPr lang="en-US" sz="1050" dirty="0">
                <a:solidFill>
                  <a:srgbClr val="F8FAFC"/>
                </a:solidFill>
                <a:latin typeface="Arial" pitchFamily="34" charset="0"/>
                <a:ea typeface="Arial" pitchFamily="34" charset="-122"/>
                <a:cs typeface="Arial" pitchFamily="34" charset="-120"/>
              </a:rPr>
              <a:t>• Faculty professors whose exam clinics suffer from low discovery.</a:t>
            </a:r>
            <a:endParaRPr lang="en-US" sz="1050" dirty="0"/>
          </a:p>
        </p:txBody>
      </p:sp>
      <p:sp>
        <p:nvSpPr>
          <p:cNvPr id="12" name="Shape 10"/>
          <p:cNvSpPr/>
          <p:nvPr/>
        </p:nvSpPr>
        <p:spPr>
          <a:xfrm>
            <a:off x="457200" y="3657600"/>
            <a:ext cx="4023360" cy="2286000"/>
          </a:xfrm>
          <a:prstGeom prst="roundRect">
            <a:avLst>
              <a:gd name="adj" fmla="val 6000"/>
            </a:avLst>
          </a:prstGeom>
          <a:solidFill>
            <a:srgbClr val="161E2E"/>
          </a:solidFill>
          <a:ln w="15240">
            <a:solidFill>
              <a:srgbClr val="6366F1"/>
            </a:solidFill>
            <a:prstDash val="solid"/>
          </a:ln>
        </p:spPr>
      </p:sp>
      <p:sp>
        <p:nvSpPr>
          <p:cNvPr id="13" name="Text 11"/>
          <p:cNvSpPr/>
          <p:nvPr/>
        </p:nvSpPr>
        <p:spPr>
          <a:xfrm>
            <a:off x="685800" y="3840480"/>
            <a:ext cx="3566160" cy="365760"/>
          </a:xfrm>
          <a:prstGeom prst="rect">
            <a:avLst/>
          </a:prstGeom>
          <a:noFill/>
          <a:ln/>
        </p:spPr>
        <p:txBody>
          <a:bodyPr wrap="square" rtlCol="0" anchor="ctr"/>
          <a:lstStyle/>
          <a:p>
            <a:pPr indent="0" marL="0">
              <a:buNone/>
            </a:pPr>
            <a:r>
              <a:rPr lang="en-US" sz="1400" b="1" dirty="0">
                <a:solidFill>
                  <a:srgbClr val="6366F1"/>
                </a:solidFill>
                <a:latin typeface="Arial" pitchFamily="34" charset="0"/>
                <a:ea typeface="Arial" pitchFamily="34" charset="-122"/>
                <a:cs typeface="Arial" pitchFamily="34" charset="-120"/>
              </a:rPr>
              <a:t>Current Solutions (If Any)</a:t>
            </a:r>
            <a:endParaRPr lang="en-US" sz="1400" dirty="0"/>
          </a:p>
        </p:txBody>
      </p:sp>
      <p:sp>
        <p:nvSpPr>
          <p:cNvPr id="14" name="Text 12"/>
          <p:cNvSpPr/>
          <p:nvPr/>
        </p:nvSpPr>
        <p:spPr>
          <a:xfrm>
            <a:off x="685800" y="4251960"/>
            <a:ext cx="3566160" cy="1463040"/>
          </a:xfrm>
          <a:prstGeom prst="rect">
            <a:avLst/>
          </a:prstGeom>
          <a:noFill/>
          <a:ln/>
        </p:spPr>
        <p:txBody>
          <a:bodyPr wrap="square" rtlCol="0" anchor="ctr"/>
          <a:lstStyle/>
          <a:p>
            <a:pPr indent="0" marL="0">
              <a:lnSpc>
                <a:spcPct val="115000"/>
              </a:lnSpc>
              <a:buNone/>
            </a:pPr>
            <a:r>
              <a:rPr lang="en-US" sz="1050" dirty="0">
                <a:solidFill>
                  <a:srgbClr val="F8FAFC"/>
                </a:solidFill>
                <a:latin typeface="Arial" pitchFamily="34" charset="0"/>
                <a:ea typeface="Arial" pitchFamily="34" charset="-122"/>
                <a:cs typeface="Arial" pitchFamily="34" charset="-120"/>
              </a:rPr>
              <a:t>• WhatsApp group chats with 1,000+ unindexed messages.</a:t>
            </a:r>
            <a:endParaRPr lang="en-US" sz="1050" dirty="0"/>
          </a:p>
          <a:p>
            <a:pPr indent="0" marL="0">
              <a:lnSpc>
                <a:spcPct val="115000"/>
              </a:lnSpc>
              <a:buNone/>
            </a:pPr>
            <a:r>
              <a:rPr lang="en-US" sz="1050" dirty="0">
                <a:solidFill>
                  <a:srgbClr val="F8FAFC"/>
                </a:solidFill>
                <a:latin typeface="Arial" pitchFamily="34" charset="0"/>
                <a:ea typeface="Arial" pitchFamily="34" charset="-122"/>
                <a:cs typeface="Arial" pitchFamily="34" charset="-120"/>
              </a:rPr>
              <a:t>• Physical corkboard posters easily weathered or ignored.</a:t>
            </a:r>
            <a:endParaRPr lang="en-US" sz="1050" dirty="0"/>
          </a:p>
          <a:p>
            <a:pPr indent="0" marL="0">
              <a:lnSpc>
                <a:spcPct val="115000"/>
              </a:lnSpc>
              <a:buNone/>
            </a:pPr>
            <a:r>
              <a:rPr lang="en-US" sz="1050" dirty="0">
                <a:solidFill>
                  <a:srgbClr val="F8FAFC"/>
                </a:solidFill>
                <a:latin typeface="Arial" pitchFamily="34" charset="0"/>
                <a:ea typeface="Arial" pitchFamily="34" charset="-122"/>
                <a:cs typeface="Arial" pitchFamily="34" charset="-120"/>
              </a:rPr>
              <a:t>• Ad-hoc Google Sheets with stale signups and conflicting times.</a:t>
            </a:r>
            <a:endParaRPr lang="en-US" sz="1050" dirty="0"/>
          </a:p>
        </p:txBody>
      </p:sp>
      <p:sp>
        <p:nvSpPr>
          <p:cNvPr id="15" name="Shape 13"/>
          <p:cNvSpPr/>
          <p:nvPr/>
        </p:nvSpPr>
        <p:spPr>
          <a:xfrm>
            <a:off x="4663440" y="3657600"/>
            <a:ext cx="4023360" cy="2286000"/>
          </a:xfrm>
          <a:prstGeom prst="roundRect">
            <a:avLst>
              <a:gd name="adj" fmla="val 6000"/>
            </a:avLst>
          </a:prstGeom>
          <a:solidFill>
            <a:srgbClr val="161E2E"/>
          </a:solidFill>
          <a:ln w="15240">
            <a:solidFill>
              <a:srgbClr val="8B5CF6"/>
            </a:solidFill>
            <a:prstDash val="solid"/>
          </a:ln>
        </p:spPr>
      </p:sp>
      <p:sp>
        <p:nvSpPr>
          <p:cNvPr id="16" name="Text 14"/>
          <p:cNvSpPr/>
          <p:nvPr/>
        </p:nvSpPr>
        <p:spPr>
          <a:xfrm>
            <a:off x="4892040" y="3840480"/>
            <a:ext cx="3566160" cy="365760"/>
          </a:xfrm>
          <a:prstGeom prst="rect">
            <a:avLst/>
          </a:prstGeom>
          <a:noFill/>
          <a:ln/>
        </p:spPr>
        <p:txBody>
          <a:bodyPr wrap="square" rtlCol="0" anchor="ctr"/>
          <a:lstStyle/>
          <a:p>
            <a:pPr indent="0" marL="0">
              <a:buNone/>
            </a:pPr>
            <a:r>
              <a:rPr lang="en-US" sz="1400" b="1" dirty="0">
                <a:solidFill>
                  <a:srgbClr val="8B5CF6"/>
                </a:solidFill>
                <a:latin typeface="Arial" pitchFamily="34" charset="0"/>
                <a:ea typeface="Arial" pitchFamily="34" charset="-122"/>
                <a:cs typeface="Arial" pitchFamily="34" charset="-120"/>
              </a:rPr>
              <a:t>Key Gaps &amp; Limitations</a:t>
            </a:r>
            <a:endParaRPr lang="en-US" sz="1400" dirty="0"/>
          </a:p>
        </p:txBody>
      </p:sp>
      <p:sp>
        <p:nvSpPr>
          <p:cNvPr id="17" name="Text 15"/>
          <p:cNvSpPr/>
          <p:nvPr/>
        </p:nvSpPr>
        <p:spPr>
          <a:xfrm>
            <a:off x="4892040" y="4251960"/>
            <a:ext cx="3566160" cy="1463040"/>
          </a:xfrm>
          <a:prstGeom prst="rect">
            <a:avLst/>
          </a:prstGeom>
          <a:noFill/>
          <a:ln/>
        </p:spPr>
        <p:txBody>
          <a:bodyPr wrap="square" rtlCol="0" anchor="ctr"/>
          <a:lstStyle/>
          <a:p>
            <a:pPr indent="0" marL="0">
              <a:lnSpc>
                <a:spcPct val="115000"/>
              </a:lnSpc>
              <a:buNone/>
            </a:pPr>
            <a:r>
              <a:rPr lang="en-US" sz="1050" dirty="0">
                <a:solidFill>
                  <a:srgbClr val="F8FAFC"/>
                </a:solidFill>
                <a:latin typeface="Arial" pitchFamily="34" charset="0"/>
                <a:ea typeface="Arial" pitchFamily="34" charset="-122"/>
                <a:cs typeface="Arial" pitchFamily="34" charset="-120"/>
              </a:rPr>
              <a:t>• Zero Course-Specific Compatibility Ranking.</a:t>
            </a:r>
            <a:endParaRPr lang="en-US" sz="1050" dirty="0"/>
          </a:p>
          <a:p>
            <a:pPr indent="0" marL="0">
              <a:lnSpc>
                <a:spcPct val="115000"/>
              </a:lnSpc>
              <a:buNone/>
            </a:pPr>
            <a:r>
              <a:rPr lang="en-US" sz="1050" dirty="0">
                <a:solidFill>
                  <a:srgbClr val="F8FAFC"/>
                </a:solidFill>
                <a:latin typeface="Arial" pitchFamily="34" charset="0"/>
                <a:ea typeface="Arial" pitchFamily="34" charset="-122"/>
                <a:cs typeface="Arial" pitchFamily="34" charset="-120"/>
              </a:rPr>
              <a:t>• No schedule collision resolution or seat capacity enforcement.</a:t>
            </a:r>
            <a:endParaRPr lang="en-US" sz="1050" dirty="0"/>
          </a:p>
          <a:p>
            <a:pPr indent="0" marL="0">
              <a:lnSpc>
                <a:spcPct val="115000"/>
              </a:lnSpc>
              <a:buNone/>
            </a:pPr>
            <a:r>
              <a:rPr lang="en-US" sz="1050" dirty="0">
                <a:solidFill>
                  <a:srgbClr val="F8FAFC"/>
                </a:solidFill>
                <a:latin typeface="Arial" pitchFamily="34" charset="0"/>
                <a:ea typeface="Arial" pitchFamily="34" charset="-122"/>
                <a:cs typeface="Arial" pitchFamily="34" charset="-120"/>
              </a:rPr>
              <a:t>• Unchecked spam with no role authorization.</a:t>
            </a:r>
            <a:endParaRPr lang="en-US" sz="1050" dirty="0"/>
          </a:p>
          <a:p>
            <a:pPr indent="0" marL="0">
              <a:lnSpc>
                <a:spcPct val="115000"/>
              </a:lnSpc>
              <a:buNone/>
            </a:pPr>
            <a:r>
              <a:rPr lang="en-US" sz="1050" dirty="0">
                <a:solidFill>
                  <a:srgbClr val="F8FAFC"/>
                </a:solidFill>
                <a:latin typeface="Arial" pitchFamily="34" charset="0"/>
                <a:ea typeface="Arial" pitchFamily="34" charset="-122"/>
                <a:cs typeface="Arial" pitchFamily="34" charset="-120"/>
              </a:rPr>
              <a:t>• Zero autonomous follow-through or automated booking.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20040"/>
            <a:ext cx="8229600" cy="36576"/>
          </a:xfrm>
          <a:prstGeom prst="rect">
            <a:avLst/>
          </a:prstGeom>
          <a:solidFill>
            <a:srgbClr val="6366F1"/>
          </a:solidFill>
          <a:ln/>
        </p:spPr>
      </p:sp>
      <p:sp>
        <p:nvSpPr>
          <p:cNvPr id="3" name="Text 1"/>
          <p:cNvSpPr/>
          <p:nvPr/>
        </p:nvSpPr>
        <p:spPr>
          <a:xfrm>
            <a:off x="457200" y="6492240"/>
            <a:ext cx="68580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CampusPulse · Campus Life, Upgraded (Flutter + Serverpod) · AdaL Companion</a:t>
            </a:r>
            <a:endParaRPr lang="en-US" sz="900" dirty="0"/>
          </a:p>
        </p:txBody>
      </p:sp>
      <p:sp>
        <p:nvSpPr>
          <p:cNvPr id="4" name="Text 2"/>
          <p:cNvSpPr/>
          <p:nvPr/>
        </p:nvSpPr>
        <p:spPr>
          <a:xfrm>
            <a:off x="7772400" y="6492240"/>
            <a:ext cx="914400" cy="274320"/>
          </a:xfrm>
          <a:prstGeom prst="rect">
            <a:avLst/>
          </a:prstGeom>
          <a:noFill/>
          <a:ln/>
        </p:spPr>
        <p:txBody>
          <a:bodyPr wrap="square" rtlCol="0" anchor="ctr"/>
          <a:lstStyle/>
          <a:p>
            <a:pPr algn="r" indent="0" marL="0">
              <a:buNone/>
            </a:pPr>
            <a:r>
              <a:rPr lang="en-US" sz="900" b="1" dirty="0">
                <a:solidFill>
                  <a:srgbClr val="6366F1"/>
                </a:solidFill>
                <a:latin typeface="Arial" pitchFamily="34" charset="0"/>
                <a:ea typeface="Arial" pitchFamily="34" charset="-122"/>
                <a:cs typeface="Arial" pitchFamily="34" charset="-120"/>
              </a:rPr>
              <a:t>3 / 7</a:t>
            </a:r>
            <a:endParaRPr lang="en-US" sz="900" dirty="0"/>
          </a:p>
        </p:txBody>
      </p:sp>
      <p:sp>
        <p:nvSpPr>
          <p:cNvPr id="5" name="Text 3"/>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Slide 3: Proposed Solution</a:t>
            </a:r>
            <a:endParaRPr lang="en-US" sz="2200" dirty="0"/>
          </a:p>
        </p:txBody>
      </p:sp>
      <p:sp>
        <p:nvSpPr>
          <p:cNvPr id="6" name="Shape 4"/>
          <p:cNvSpPr/>
          <p:nvPr/>
        </p:nvSpPr>
        <p:spPr>
          <a:xfrm>
            <a:off x="457200" y="1188720"/>
            <a:ext cx="2651760" cy="4937760"/>
          </a:xfrm>
          <a:prstGeom prst="roundRect">
            <a:avLst>
              <a:gd name="adj" fmla="val 5172"/>
            </a:avLst>
          </a:prstGeom>
          <a:solidFill>
            <a:srgbClr val="161E2E"/>
          </a:solidFill>
          <a:ln w="15240">
            <a:solidFill>
              <a:srgbClr val="06B6D4"/>
            </a:solidFill>
            <a:prstDash val="solid"/>
          </a:ln>
        </p:spPr>
      </p:sp>
      <p:sp>
        <p:nvSpPr>
          <p:cNvPr id="7" name="Text 5"/>
          <p:cNvSpPr/>
          <p:nvPr/>
        </p:nvSpPr>
        <p:spPr>
          <a:xfrm>
            <a:off x="640080" y="1371600"/>
            <a:ext cx="2286000" cy="457200"/>
          </a:xfrm>
          <a:prstGeom prst="rect">
            <a:avLst/>
          </a:prstGeom>
          <a:noFill/>
          <a:ln/>
        </p:spPr>
        <p:txBody>
          <a:bodyPr wrap="square" rtlCol="0" anchor="ctr"/>
          <a:lstStyle/>
          <a:p>
            <a:pPr indent="0" marL="0">
              <a:buNone/>
            </a:pPr>
            <a:r>
              <a:rPr lang="en-US" sz="1300" b="1" dirty="0">
                <a:solidFill>
                  <a:srgbClr val="06B6D4"/>
                </a:solidFill>
                <a:latin typeface="Arial" pitchFamily="34" charset="0"/>
                <a:ea typeface="Arial" pitchFamily="34" charset="-122"/>
                <a:cs typeface="Arial" pitchFamily="34" charset="-120"/>
              </a:rPr>
              <a:t>Your Idea in Simple Terms</a:t>
            </a:r>
            <a:endParaRPr lang="en-US" sz="1300" dirty="0"/>
          </a:p>
        </p:txBody>
      </p:sp>
      <p:sp>
        <p:nvSpPr>
          <p:cNvPr id="8" name="Text 6"/>
          <p:cNvSpPr/>
          <p:nvPr/>
        </p:nvSpPr>
        <p:spPr>
          <a:xfrm>
            <a:off x="640080" y="1828800"/>
            <a:ext cx="2286000" cy="320040"/>
          </a:xfrm>
          <a:prstGeom prst="rect">
            <a:avLst/>
          </a:prstGeom>
          <a:noFill/>
          <a:ln/>
        </p:spPr>
        <p:txBody>
          <a:bodyPr wrap="square" rtlCol="0" anchor="ctr"/>
          <a:lstStyle/>
          <a:p>
            <a:pPr indent="0" marL="0">
              <a:buNone/>
            </a:pPr>
            <a:r>
              <a:rPr lang="en-US" sz="800" b="1" dirty="0">
                <a:solidFill>
                  <a:srgbClr val="F59E0B"/>
                </a:solidFill>
                <a:latin typeface="Arial" pitchFamily="34" charset="0"/>
                <a:ea typeface="Arial" pitchFamily="34" charset="-122"/>
                <a:cs typeface="Arial" pitchFamily="34" charset="-120"/>
              </a:rPr>
              <a:t>AI-NATIVE BROWSER &amp; AUTONOMOUS MULTIMODAL AGENT</a:t>
            </a:r>
            <a:endParaRPr lang="en-US" sz="800" dirty="0"/>
          </a:p>
        </p:txBody>
      </p:sp>
      <p:sp>
        <p:nvSpPr>
          <p:cNvPr id="9" name="Shape 7"/>
          <p:cNvSpPr/>
          <p:nvPr/>
        </p:nvSpPr>
        <p:spPr>
          <a:xfrm>
            <a:off x="640080" y="2194560"/>
            <a:ext cx="2286000" cy="0"/>
          </a:xfrm>
          <a:prstGeom prst="line">
            <a:avLst/>
          </a:prstGeom>
          <a:noFill/>
          <a:ln w="12700">
            <a:solidFill>
              <a:srgbClr val="334155"/>
            </a:solidFill>
            <a:prstDash val="solid"/>
          </a:ln>
        </p:spPr>
      </p:sp>
      <p:sp>
        <p:nvSpPr>
          <p:cNvPr id="10" name="Text 8"/>
          <p:cNvSpPr/>
          <p:nvPr/>
        </p:nvSpPr>
        <p:spPr>
          <a:xfrm>
            <a:off x="640080" y="2377440"/>
            <a:ext cx="2286000" cy="3474720"/>
          </a:xfrm>
          <a:prstGeom prst="rect">
            <a:avLst/>
          </a:prstGeom>
          <a:noFill/>
          <a:ln/>
        </p:spPr>
        <p:txBody>
          <a:bodyPr wrap="square" rtlCol="0" anchor="ctr"/>
          <a:lstStyle/>
          <a:p>
            <a:pPr indent="0" marL="0">
              <a:lnSpc>
                <a:spcPct val="115000"/>
              </a:lnSpc>
              <a:buNone/>
            </a:pPr>
            <a:r>
              <a:rPr lang="en-US" sz="1000" dirty="0">
                <a:solidFill>
                  <a:srgbClr val="F8FAFC"/>
                </a:solidFill>
                <a:latin typeface="Arial" pitchFamily="34" charset="0"/>
                <a:ea typeface="Arial" pitchFamily="34" charset="-122"/>
                <a:cs typeface="Arial" pitchFamily="34" charset="-120"/>
              </a:rPr>
              <a:t>• A dedicated campus web operating environment featuring an autonomous multimodal companion named AdaL.</a:t>
            </a:r>
            <a:endParaRPr lang="en-US" sz="1000" dirty="0"/>
          </a:p>
          <a:p>
            <a:pPr indent="0" marL="0">
              <a:lnSpc>
                <a:spcPct val="115000"/>
              </a:lnSpc>
              <a:buNone/>
            </a:pPr>
            <a:endParaRPr lang="en-US" sz="1000" dirty="0"/>
          </a:p>
          <a:p>
            <a:pPr indent="0" marL="0">
              <a:lnSpc>
                <a:spcPct val="115000"/>
              </a:lnSpc>
              <a:buNone/>
            </a:pPr>
            <a:r>
              <a:rPr lang="en-US" sz="1000" dirty="0">
                <a:solidFill>
                  <a:srgbClr val="F8FAFC"/>
                </a:solidFill>
                <a:latin typeface="Arial" pitchFamily="34" charset="0"/>
                <a:ea typeface="Arial" pitchFamily="34" charset="-122"/>
                <a:cs typeface="Arial" pitchFamily="34" charset="-120"/>
              </a:rPr>
              <a:t>• Ingests unstructured real-world campus signals (WhatsApp chats, physical posters, spreadsheets, audio memos).</a:t>
            </a:r>
            <a:endParaRPr lang="en-US" sz="1000" dirty="0"/>
          </a:p>
          <a:p>
            <a:pPr indent="0" marL="0">
              <a:lnSpc>
                <a:spcPct val="115000"/>
              </a:lnSpc>
              <a:buNone/>
            </a:pPr>
            <a:endParaRPr lang="en-US" sz="1000" dirty="0"/>
          </a:p>
          <a:p>
            <a:pPr indent="0" marL="0">
              <a:lnSpc>
                <a:spcPct val="115000"/>
              </a:lnSpc>
              <a:buNone/>
            </a:pPr>
            <a:r>
              <a:rPr lang="en-US" sz="1000" dirty="0">
                <a:solidFill>
                  <a:srgbClr val="F8FAFC"/>
                </a:solidFill>
                <a:latin typeface="Arial" pitchFamily="34" charset="0"/>
                <a:ea typeface="Arial" pitchFamily="34" charset="-122"/>
                <a:cs typeface="Arial" pitchFamily="34" charset="-120"/>
              </a:rPr>
              <a:t>• Turns campus clutter into proactive study matches and live event RSVPs.</a:t>
            </a:r>
            <a:endParaRPr lang="en-US" sz="1000" dirty="0"/>
          </a:p>
        </p:txBody>
      </p:sp>
      <p:sp>
        <p:nvSpPr>
          <p:cNvPr id="11" name="Shape 9"/>
          <p:cNvSpPr/>
          <p:nvPr/>
        </p:nvSpPr>
        <p:spPr>
          <a:xfrm>
            <a:off x="3291840" y="1188720"/>
            <a:ext cx="2651760" cy="4937760"/>
          </a:xfrm>
          <a:prstGeom prst="roundRect">
            <a:avLst>
              <a:gd name="adj" fmla="val 5172"/>
            </a:avLst>
          </a:prstGeom>
          <a:solidFill>
            <a:srgbClr val="161E2E"/>
          </a:solidFill>
          <a:ln w="15240">
            <a:solidFill>
              <a:srgbClr val="10B981"/>
            </a:solidFill>
            <a:prstDash val="solid"/>
          </a:ln>
        </p:spPr>
      </p:sp>
      <p:sp>
        <p:nvSpPr>
          <p:cNvPr id="12" name="Text 10"/>
          <p:cNvSpPr/>
          <p:nvPr/>
        </p:nvSpPr>
        <p:spPr>
          <a:xfrm>
            <a:off x="3474720" y="1371600"/>
            <a:ext cx="2286000" cy="45720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How It Solves the Problem</a:t>
            </a:r>
            <a:endParaRPr lang="en-US" sz="1300" dirty="0"/>
          </a:p>
        </p:txBody>
      </p:sp>
      <p:sp>
        <p:nvSpPr>
          <p:cNvPr id="13" name="Text 11"/>
          <p:cNvSpPr/>
          <p:nvPr/>
        </p:nvSpPr>
        <p:spPr>
          <a:xfrm>
            <a:off x="3474720" y="1828800"/>
            <a:ext cx="2286000" cy="320040"/>
          </a:xfrm>
          <a:prstGeom prst="rect">
            <a:avLst/>
          </a:prstGeom>
          <a:noFill/>
          <a:ln/>
        </p:spPr>
        <p:txBody>
          <a:bodyPr wrap="square" rtlCol="0" anchor="ctr"/>
          <a:lstStyle/>
          <a:p>
            <a:pPr indent="0" marL="0">
              <a:buNone/>
            </a:pPr>
            <a:r>
              <a:rPr lang="en-US" sz="800" b="1" dirty="0">
                <a:solidFill>
                  <a:srgbClr val="F59E0B"/>
                </a:solidFill>
                <a:latin typeface="Arial" pitchFamily="34" charset="0"/>
                <a:ea typeface="Arial" pitchFamily="34" charset="-122"/>
                <a:cs typeface="Arial" pitchFamily="34" charset="-120"/>
              </a:rPr>
              <a:t>AUTONOMOUS INTELLIGENCE + SERVERPOD STREAMING</a:t>
            </a:r>
            <a:endParaRPr lang="en-US" sz="800" dirty="0"/>
          </a:p>
        </p:txBody>
      </p:sp>
      <p:sp>
        <p:nvSpPr>
          <p:cNvPr id="14" name="Shape 12"/>
          <p:cNvSpPr/>
          <p:nvPr/>
        </p:nvSpPr>
        <p:spPr>
          <a:xfrm>
            <a:off x="3474720" y="2194560"/>
            <a:ext cx="2286000" cy="0"/>
          </a:xfrm>
          <a:prstGeom prst="line">
            <a:avLst/>
          </a:prstGeom>
          <a:noFill/>
          <a:ln w="12700">
            <a:solidFill>
              <a:srgbClr val="334155"/>
            </a:solidFill>
            <a:prstDash val="solid"/>
          </a:ln>
        </p:spPr>
      </p:sp>
      <p:sp>
        <p:nvSpPr>
          <p:cNvPr id="15" name="Text 13"/>
          <p:cNvSpPr/>
          <p:nvPr/>
        </p:nvSpPr>
        <p:spPr>
          <a:xfrm>
            <a:off x="3474720" y="2377440"/>
            <a:ext cx="2286000" cy="3474720"/>
          </a:xfrm>
          <a:prstGeom prst="rect">
            <a:avLst/>
          </a:prstGeom>
          <a:noFill/>
          <a:ln/>
        </p:spPr>
        <p:txBody>
          <a:bodyPr wrap="square" rtlCol="0" anchor="ctr"/>
          <a:lstStyle/>
          <a:p>
            <a:pPr indent="0" marL="0">
              <a:lnSpc>
                <a:spcPct val="115000"/>
              </a:lnSpc>
              <a:buNone/>
            </a:pPr>
            <a:r>
              <a:rPr lang="en-US" sz="1000" dirty="0">
                <a:solidFill>
                  <a:srgbClr val="F8FAFC"/>
                </a:solidFill>
                <a:latin typeface="Arial" pitchFamily="34" charset="0"/>
                <a:ea typeface="Arial" pitchFamily="34" charset="-122"/>
                <a:cs typeface="Arial" pitchFamily="34" charset="-120"/>
              </a:rPr>
              <a:t>• AdaL Multimodal OCR: Extracts dates, locations, and prerequisites from photos of flyers in seconds.</a:t>
            </a:r>
            <a:endParaRPr lang="en-US" sz="1000" dirty="0"/>
          </a:p>
          <a:p>
            <a:pPr indent="0" marL="0">
              <a:lnSpc>
                <a:spcPct val="115000"/>
              </a:lnSpc>
              <a:buNone/>
            </a:pPr>
            <a:endParaRPr lang="en-US" sz="1000" dirty="0"/>
          </a:p>
          <a:p>
            <a:pPr indent="0" marL="0">
              <a:lnSpc>
                <a:spcPct val="115000"/>
              </a:lnSpc>
              <a:buNone/>
            </a:pPr>
            <a:r>
              <a:rPr lang="en-US" sz="1000" dirty="0">
                <a:solidFill>
                  <a:srgbClr val="F8FAFC"/>
                </a:solidFill>
                <a:latin typeface="Arial" pitchFamily="34" charset="0"/>
                <a:ea typeface="Arial" pitchFamily="34" charset="-122"/>
                <a:cs typeface="Arial" pitchFamily="34" charset="-120"/>
              </a:rPr>
              <a:t>• Schedule Collision Engine: Detects when mutual students have free study blocks before major midterms.</a:t>
            </a:r>
            <a:endParaRPr lang="en-US" sz="1000" dirty="0"/>
          </a:p>
          <a:p>
            <a:pPr indent="0" marL="0">
              <a:lnSpc>
                <a:spcPct val="115000"/>
              </a:lnSpc>
              <a:buNone/>
            </a:pPr>
            <a:endParaRPr lang="en-US" sz="1000" dirty="0"/>
          </a:p>
          <a:p>
            <a:pPr indent="0" marL="0">
              <a:lnSpc>
                <a:spcPct val="115000"/>
              </a:lnSpc>
              <a:buNone/>
            </a:pPr>
            <a:r>
              <a:rPr lang="en-US" sz="1000" dirty="0">
                <a:solidFill>
                  <a:srgbClr val="F8FAFC"/>
                </a:solidFill>
                <a:latin typeface="Arial" pitchFamily="34" charset="0"/>
                <a:ea typeface="Arial" pitchFamily="34" charset="-122"/>
                <a:cs typeface="Arial" pitchFamily="34" charset="-120"/>
              </a:rPr>
              <a:t>• 1-Click Autonomous Action: Auto-reserves study rooms and dispatches peer invitations automatically.</a:t>
            </a:r>
            <a:endParaRPr lang="en-US" sz="1000" dirty="0"/>
          </a:p>
        </p:txBody>
      </p:sp>
      <p:sp>
        <p:nvSpPr>
          <p:cNvPr id="16" name="Shape 14"/>
          <p:cNvSpPr/>
          <p:nvPr/>
        </p:nvSpPr>
        <p:spPr>
          <a:xfrm>
            <a:off x="6126480" y="1188720"/>
            <a:ext cx="2651760" cy="4937760"/>
          </a:xfrm>
          <a:prstGeom prst="roundRect">
            <a:avLst>
              <a:gd name="adj" fmla="val 5172"/>
            </a:avLst>
          </a:prstGeom>
          <a:solidFill>
            <a:srgbClr val="161E2E"/>
          </a:solidFill>
          <a:ln w="15240">
            <a:solidFill>
              <a:srgbClr val="6366F1"/>
            </a:solidFill>
            <a:prstDash val="solid"/>
          </a:ln>
        </p:spPr>
      </p:sp>
      <p:sp>
        <p:nvSpPr>
          <p:cNvPr id="17" name="Text 15"/>
          <p:cNvSpPr/>
          <p:nvPr/>
        </p:nvSpPr>
        <p:spPr>
          <a:xfrm>
            <a:off x="6309360" y="1371600"/>
            <a:ext cx="2286000" cy="457200"/>
          </a:xfrm>
          <a:prstGeom prst="rect">
            <a:avLst/>
          </a:prstGeom>
          <a:noFill/>
          <a:ln/>
        </p:spPr>
        <p:txBody>
          <a:bodyPr wrap="square" rtlCol="0" anchor="ctr"/>
          <a:lstStyle/>
          <a:p>
            <a:pPr indent="0" marL="0">
              <a:buNone/>
            </a:pPr>
            <a:r>
              <a:rPr lang="en-US" sz="1300" b="1" dirty="0">
                <a:solidFill>
                  <a:srgbClr val="6366F1"/>
                </a:solidFill>
                <a:latin typeface="Arial" pitchFamily="34" charset="0"/>
                <a:ea typeface="Arial" pitchFamily="34" charset="-122"/>
                <a:cs typeface="Arial" pitchFamily="34" charset="-120"/>
              </a:rPr>
              <a:t>What Makes It Better Than Existing Solutions</a:t>
            </a:r>
            <a:endParaRPr lang="en-US" sz="1300" dirty="0"/>
          </a:p>
        </p:txBody>
      </p:sp>
      <p:sp>
        <p:nvSpPr>
          <p:cNvPr id="18" name="Text 16"/>
          <p:cNvSpPr/>
          <p:nvPr/>
        </p:nvSpPr>
        <p:spPr>
          <a:xfrm>
            <a:off x="6309360" y="1828800"/>
            <a:ext cx="2286000" cy="320040"/>
          </a:xfrm>
          <a:prstGeom prst="rect">
            <a:avLst/>
          </a:prstGeom>
          <a:noFill/>
          <a:ln/>
        </p:spPr>
        <p:txBody>
          <a:bodyPr wrap="square" rtlCol="0" anchor="ctr"/>
          <a:lstStyle/>
          <a:p>
            <a:pPr indent="0" marL="0">
              <a:buNone/>
            </a:pPr>
            <a:r>
              <a:rPr lang="en-US" sz="800" b="1" dirty="0">
                <a:solidFill>
                  <a:srgbClr val="F59E0B"/>
                </a:solidFill>
                <a:latin typeface="Arial" pitchFamily="34" charset="0"/>
                <a:ea typeface="Arial" pitchFamily="34" charset="-122"/>
                <a:cs typeface="Arial" pitchFamily="34" charset="-120"/>
              </a:rPr>
              <a:t>COMPETITIVE ADVANTAGE</a:t>
            </a:r>
            <a:endParaRPr lang="en-US" sz="800" dirty="0"/>
          </a:p>
        </p:txBody>
      </p:sp>
      <p:sp>
        <p:nvSpPr>
          <p:cNvPr id="19" name="Shape 17"/>
          <p:cNvSpPr/>
          <p:nvPr/>
        </p:nvSpPr>
        <p:spPr>
          <a:xfrm>
            <a:off x="6309360" y="2194560"/>
            <a:ext cx="2286000" cy="0"/>
          </a:xfrm>
          <a:prstGeom prst="line">
            <a:avLst/>
          </a:prstGeom>
          <a:noFill/>
          <a:ln w="12700">
            <a:solidFill>
              <a:srgbClr val="334155"/>
            </a:solidFill>
            <a:prstDash val="solid"/>
          </a:ln>
        </p:spPr>
      </p:sp>
      <p:sp>
        <p:nvSpPr>
          <p:cNvPr id="20" name="Text 18"/>
          <p:cNvSpPr/>
          <p:nvPr/>
        </p:nvSpPr>
        <p:spPr>
          <a:xfrm>
            <a:off x="6309360" y="2377440"/>
            <a:ext cx="2286000" cy="3474720"/>
          </a:xfrm>
          <a:prstGeom prst="rect">
            <a:avLst/>
          </a:prstGeom>
          <a:noFill/>
          <a:ln/>
        </p:spPr>
        <p:txBody>
          <a:bodyPr wrap="square" rtlCol="0" anchor="ctr"/>
          <a:lstStyle/>
          <a:p>
            <a:pPr indent="0" marL="0">
              <a:lnSpc>
                <a:spcPct val="115000"/>
              </a:lnSpc>
              <a:buNone/>
            </a:pPr>
            <a:r>
              <a:rPr lang="en-US" sz="1000" dirty="0">
                <a:solidFill>
                  <a:srgbClr val="F8FAFC"/>
                </a:solidFill>
                <a:latin typeface="Arial" pitchFamily="34" charset="0"/>
                <a:ea typeface="Arial" pitchFamily="34" charset="-122"/>
                <a:cs typeface="Arial" pitchFamily="34" charset="-120"/>
              </a:rPr>
              <a:t>• Proactive vs Reactive: AdaL alerts you before exams, not after you search.</a:t>
            </a:r>
            <a:endParaRPr lang="en-US" sz="1000" dirty="0"/>
          </a:p>
          <a:p>
            <a:pPr indent="0" marL="0">
              <a:lnSpc>
                <a:spcPct val="115000"/>
              </a:lnSpc>
              <a:buNone/>
            </a:pPr>
            <a:endParaRPr lang="en-US" sz="1000" dirty="0"/>
          </a:p>
          <a:p>
            <a:pPr indent="0" marL="0">
              <a:lnSpc>
                <a:spcPct val="115000"/>
              </a:lnSpc>
              <a:buNone/>
            </a:pPr>
            <a:r>
              <a:rPr lang="en-US" sz="1000" dirty="0">
                <a:solidFill>
                  <a:srgbClr val="F8FAFC"/>
                </a:solidFill>
                <a:latin typeface="Arial" pitchFamily="34" charset="0"/>
                <a:ea typeface="Arial" pitchFamily="34" charset="-122"/>
                <a:cs typeface="Arial" pitchFamily="34" charset="-120"/>
              </a:rPr>
              <a:t>• Strict Role Governance: Teachers &amp; Club Heads publish official events; students explore &amp; RSVP without spam.</a:t>
            </a:r>
            <a:endParaRPr lang="en-US" sz="1000" dirty="0"/>
          </a:p>
          <a:p>
            <a:pPr indent="0" marL="0">
              <a:lnSpc>
                <a:spcPct val="115000"/>
              </a:lnSpc>
              <a:buNone/>
            </a:pPr>
            <a:endParaRPr lang="en-US" sz="1000" dirty="0"/>
          </a:p>
          <a:p>
            <a:pPr indent="0" marL="0">
              <a:lnSpc>
                <a:spcPct val="115000"/>
              </a:lnSpc>
              <a:buNone/>
            </a:pPr>
            <a:r>
              <a:rPr lang="en-US" sz="1000" dirty="0">
                <a:solidFill>
                  <a:srgbClr val="F8FAFC"/>
                </a:solidFill>
                <a:latin typeface="Arial" pitchFamily="34" charset="0"/>
                <a:ea typeface="Arial" pitchFamily="34" charset="-122"/>
                <a:cs typeface="Arial" pitchFamily="34" charset="-120"/>
              </a:rPr>
              <a:t>• Integrated Multiplayer Quiz Arena: Real-time academic sparring duels to test course mastery before teaming up.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20040"/>
            <a:ext cx="8229600" cy="36576"/>
          </a:xfrm>
          <a:prstGeom prst="rect">
            <a:avLst/>
          </a:prstGeom>
          <a:solidFill>
            <a:srgbClr val="6366F1"/>
          </a:solidFill>
          <a:ln/>
        </p:spPr>
      </p:sp>
      <p:sp>
        <p:nvSpPr>
          <p:cNvPr id="3" name="Text 1"/>
          <p:cNvSpPr/>
          <p:nvPr/>
        </p:nvSpPr>
        <p:spPr>
          <a:xfrm>
            <a:off x="457200" y="6492240"/>
            <a:ext cx="68580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CampusPulse · Campus Life, Upgraded (Flutter + Serverpod) · AdaL Companion</a:t>
            </a:r>
            <a:endParaRPr lang="en-US" sz="900" dirty="0"/>
          </a:p>
        </p:txBody>
      </p:sp>
      <p:sp>
        <p:nvSpPr>
          <p:cNvPr id="4" name="Text 2"/>
          <p:cNvSpPr/>
          <p:nvPr/>
        </p:nvSpPr>
        <p:spPr>
          <a:xfrm>
            <a:off x="7772400" y="6492240"/>
            <a:ext cx="914400" cy="274320"/>
          </a:xfrm>
          <a:prstGeom prst="rect">
            <a:avLst/>
          </a:prstGeom>
          <a:noFill/>
          <a:ln/>
        </p:spPr>
        <p:txBody>
          <a:bodyPr wrap="square" rtlCol="0" anchor="ctr"/>
          <a:lstStyle/>
          <a:p>
            <a:pPr algn="r" indent="0" marL="0">
              <a:buNone/>
            </a:pPr>
            <a:r>
              <a:rPr lang="en-US" sz="900" b="1" dirty="0">
                <a:solidFill>
                  <a:srgbClr val="6366F1"/>
                </a:solidFill>
                <a:latin typeface="Arial" pitchFamily="34" charset="0"/>
                <a:ea typeface="Arial" pitchFamily="34" charset="-122"/>
                <a:cs typeface="Arial" pitchFamily="34" charset="-120"/>
              </a:rPr>
              <a:t>4 / 7</a:t>
            </a:r>
            <a:endParaRPr lang="en-US" sz="900" dirty="0"/>
          </a:p>
        </p:txBody>
      </p:sp>
      <p:sp>
        <p:nvSpPr>
          <p:cNvPr id="5" name="Text 3"/>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Slide 4: Architecture + Tech Stack</a:t>
            </a:r>
            <a:endParaRPr lang="en-US" sz="2200" dirty="0"/>
          </a:p>
        </p:txBody>
      </p:sp>
      <p:sp>
        <p:nvSpPr>
          <p:cNvPr id="6" name="Shape 4"/>
          <p:cNvSpPr/>
          <p:nvPr/>
        </p:nvSpPr>
        <p:spPr>
          <a:xfrm>
            <a:off x="457200" y="1097280"/>
            <a:ext cx="8229600" cy="1737360"/>
          </a:xfrm>
          <a:prstGeom prst="roundRect">
            <a:avLst>
              <a:gd name="adj" fmla="val 7895"/>
            </a:avLst>
          </a:prstGeom>
          <a:solidFill>
            <a:srgbClr val="161E2E"/>
          </a:solidFill>
          <a:ln w="12700">
            <a:solidFill>
              <a:srgbClr val="6366F1"/>
            </a:solidFill>
            <a:prstDash val="solid"/>
          </a:ln>
        </p:spPr>
      </p:sp>
      <p:sp>
        <p:nvSpPr>
          <p:cNvPr id="7" name="Text 5"/>
          <p:cNvSpPr/>
          <p:nvPr/>
        </p:nvSpPr>
        <p:spPr>
          <a:xfrm>
            <a:off x="731520" y="1234440"/>
            <a:ext cx="7680960" cy="274320"/>
          </a:xfrm>
          <a:prstGeom prst="rect">
            <a:avLst/>
          </a:prstGeom>
          <a:noFill/>
          <a:ln/>
        </p:spPr>
        <p:txBody>
          <a:bodyPr wrap="square" rtlCol="0" anchor="ctr"/>
          <a:lstStyle/>
          <a:p>
            <a:pPr indent="0" marL="0">
              <a:buNone/>
            </a:pPr>
            <a:r>
              <a:rPr lang="en-US" sz="1100" b="1" dirty="0">
                <a:solidFill>
                  <a:srgbClr val="06B6D4"/>
                </a:solidFill>
                <a:latin typeface="Arial" pitchFamily="34" charset="0"/>
                <a:ea typeface="Arial" pitchFamily="34" charset="-122"/>
                <a:cs typeface="Arial" pitchFamily="34" charset="-120"/>
              </a:rPr>
              <a:t>SYSTEM FLOW (INPUT → PROCESS → OUTPUT)</a:t>
            </a:r>
            <a:endParaRPr lang="en-US" sz="1100" dirty="0"/>
          </a:p>
        </p:txBody>
      </p:sp>
      <p:sp>
        <p:nvSpPr>
          <p:cNvPr id="8" name="Shape 6"/>
          <p:cNvSpPr/>
          <p:nvPr/>
        </p:nvSpPr>
        <p:spPr>
          <a:xfrm>
            <a:off x="731520" y="1600200"/>
            <a:ext cx="2423160" cy="1005840"/>
          </a:xfrm>
          <a:prstGeom prst="roundRect">
            <a:avLst>
              <a:gd name="adj" fmla="val 9091"/>
            </a:avLst>
          </a:prstGeom>
          <a:solidFill>
            <a:srgbClr val="0B1120"/>
          </a:solidFill>
          <a:ln w="10160">
            <a:solidFill>
              <a:srgbClr val="334155"/>
            </a:solidFill>
            <a:prstDash val="solid"/>
          </a:ln>
        </p:spPr>
      </p:sp>
      <p:sp>
        <p:nvSpPr>
          <p:cNvPr id="9" name="Text 7"/>
          <p:cNvSpPr/>
          <p:nvPr/>
        </p:nvSpPr>
        <p:spPr>
          <a:xfrm>
            <a:off x="822960" y="1691640"/>
            <a:ext cx="2240280" cy="22860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1. MULTIMODAL INPUT</a:t>
            </a:r>
            <a:endParaRPr lang="en-US" sz="900" dirty="0"/>
          </a:p>
        </p:txBody>
      </p:sp>
      <p:sp>
        <p:nvSpPr>
          <p:cNvPr id="10" name="Text 8"/>
          <p:cNvSpPr/>
          <p:nvPr/>
        </p:nvSpPr>
        <p:spPr>
          <a:xfrm>
            <a:off x="822960" y="1965960"/>
            <a:ext cx="2240280" cy="54864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Event Posters (OCR), WhatsApp Snippets, CSV Sheets, Audio Memos</a:t>
            </a:r>
            <a:endParaRPr lang="en-US" sz="850" dirty="0"/>
          </a:p>
        </p:txBody>
      </p:sp>
      <p:sp>
        <p:nvSpPr>
          <p:cNvPr id="11" name="Shape 9"/>
          <p:cNvSpPr/>
          <p:nvPr/>
        </p:nvSpPr>
        <p:spPr>
          <a:xfrm>
            <a:off x="3337560" y="1600200"/>
            <a:ext cx="2423160" cy="1005840"/>
          </a:xfrm>
          <a:prstGeom prst="roundRect">
            <a:avLst>
              <a:gd name="adj" fmla="val 9091"/>
            </a:avLst>
          </a:prstGeom>
          <a:solidFill>
            <a:srgbClr val="0B1120"/>
          </a:solidFill>
          <a:ln w="10160">
            <a:solidFill>
              <a:srgbClr val="334155"/>
            </a:solidFill>
            <a:prstDash val="solid"/>
          </a:ln>
        </p:spPr>
      </p:sp>
      <p:sp>
        <p:nvSpPr>
          <p:cNvPr id="12" name="Text 10"/>
          <p:cNvSpPr/>
          <p:nvPr/>
        </p:nvSpPr>
        <p:spPr>
          <a:xfrm>
            <a:off x="3429000" y="1691640"/>
            <a:ext cx="2240280" cy="22860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2. ADAL &amp; SERVERPOD PROCESS</a:t>
            </a:r>
            <a:endParaRPr lang="en-US" sz="900" dirty="0"/>
          </a:p>
        </p:txBody>
      </p:sp>
      <p:sp>
        <p:nvSpPr>
          <p:cNvPr id="13" name="Text 11"/>
          <p:cNvSpPr/>
          <p:nvPr/>
        </p:nvSpPr>
        <p:spPr>
          <a:xfrm>
            <a:off x="3429000" y="1965960"/>
            <a:ext cx="2240280" cy="54864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Gemini Multimodal Ingest, Role Authorization, Compatibility Engine</a:t>
            </a:r>
            <a:endParaRPr lang="en-US" sz="850" dirty="0"/>
          </a:p>
        </p:txBody>
      </p:sp>
      <p:sp>
        <p:nvSpPr>
          <p:cNvPr id="14" name="Shape 12"/>
          <p:cNvSpPr/>
          <p:nvPr/>
        </p:nvSpPr>
        <p:spPr>
          <a:xfrm>
            <a:off x="5943600" y="1600200"/>
            <a:ext cx="2423160" cy="1005840"/>
          </a:xfrm>
          <a:prstGeom prst="roundRect">
            <a:avLst>
              <a:gd name="adj" fmla="val 9091"/>
            </a:avLst>
          </a:prstGeom>
          <a:solidFill>
            <a:srgbClr val="0B1120"/>
          </a:solidFill>
          <a:ln w="10160">
            <a:solidFill>
              <a:srgbClr val="334155"/>
            </a:solidFill>
            <a:prstDash val="solid"/>
          </a:ln>
        </p:spPr>
      </p:sp>
      <p:sp>
        <p:nvSpPr>
          <p:cNvPr id="15" name="Text 13"/>
          <p:cNvSpPr/>
          <p:nvPr/>
        </p:nvSpPr>
        <p:spPr>
          <a:xfrm>
            <a:off x="6035040" y="1691640"/>
            <a:ext cx="2240280" cy="22860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3. REAL-TIME OUTPUT</a:t>
            </a:r>
            <a:endParaRPr lang="en-US" sz="900" dirty="0"/>
          </a:p>
        </p:txBody>
      </p:sp>
      <p:sp>
        <p:nvSpPr>
          <p:cNvPr id="16" name="Text 14"/>
          <p:cNvSpPr/>
          <p:nvPr/>
        </p:nvSpPr>
        <p:spPr>
          <a:xfrm>
            <a:off x="6035040" y="1965960"/>
            <a:ext cx="2240280" cy="548640"/>
          </a:xfrm>
          <a:prstGeom prst="rect">
            <a:avLst/>
          </a:prstGeom>
          <a:noFill/>
          <a:ln/>
        </p:spPr>
        <p:txBody>
          <a:bodyPr wrap="square" rtlCol="0" anchor="ctr"/>
          <a:lstStyle/>
          <a:p>
            <a:pPr indent="0" marL="0">
              <a:buNone/>
            </a:pPr>
            <a:r>
              <a:rPr lang="en-US" sz="850" dirty="0">
                <a:solidFill>
                  <a:srgbClr val="F8FAFC"/>
                </a:solidFill>
                <a:latin typeface="Arial" pitchFamily="34" charset="0"/>
                <a:ea typeface="Arial" pitchFamily="34" charset="-122"/>
                <a:cs typeface="Arial" pitchFamily="34" charset="-120"/>
              </a:rPr>
              <a:t>Live Event Feed, Auto-Booked Sessions, WebSocket Quiz Duel State</a:t>
            </a:r>
            <a:endParaRPr lang="en-US" sz="850" dirty="0"/>
          </a:p>
        </p:txBody>
      </p:sp>
      <p:sp>
        <p:nvSpPr>
          <p:cNvPr id="17" name="Shape 15"/>
          <p:cNvSpPr/>
          <p:nvPr/>
        </p:nvSpPr>
        <p:spPr>
          <a:xfrm>
            <a:off x="457200" y="3017520"/>
            <a:ext cx="2651760" cy="3108960"/>
          </a:xfrm>
          <a:prstGeom prst="roundRect">
            <a:avLst>
              <a:gd name="adj" fmla="val 5172"/>
            </a:avLst>
          </a:prstGeom>
          <a:solidFill>
            <a:srgbClr val="161E2E"/>
          </a:solidFill>
          <a:ln w="15240">
            <a:solidFill>
              <a:srgbClr val="06B6D4"/>
            </a:solidFill>
            <a:prstDash val="solid"/>
          </a:ln>
        </p:spPr>
      </p:sp>
      <p:sp>
        <p:nvSpPr>
          <p:cNvPr id="18" name="Text 16"/>
          <p:cNvSpPr/>
          <p:nvPr/>
        </p:nvSpPr>
        <p:spPr>
          <a:xfrm>
            <a:off x="640080" y="3200400"/>
            <a:ext cx="2286000" cy="320040"/>
          </a:xfrm>
          <a:prstGeom prst="rect">
            <a:avLst/>
          </a:prstGeom>
          <a:noFill/>
          <a:ln/>
        </p:spPr>
        <p:txBody>
          <a:bodyPr wrap="square" rtlCol="0" anchor="ctr"/>
          <a:lstStyle/>
          <a:p>
            <a:pPr indent="0" marL="0">
              <a:buNone/>
            </a:pPr>
            <a:r>
              <a:rPr lang="en-US" sz="1200" b="1" dirty="0">
                <a:solidFill>
                  <a:srgbClr val="06B6D4"/>
                </a:solidFill>
                <a:latin typeface="Arial" pitchFamily="34" charset="0"/>
                <a:ea typeface="Arial" pitchFamily="34" charset="-122"/>
                <a:cs typeface="Arial" pitchFamily="34" charset="-120"/>
              </a:rPr>
              <a:t>Frontend (Client Tier)</a:t>
            </a:r>
            <a:endParaRPr lang="en-US" sz="1200" dirty="0"/>
          </a:p>
        </p:txBody>
      </p:sp>
      <p:sp>
        <p:nvSpPr>
          <p:cNvPr id="19" name="Text 17"/>
          <p:cNvSpPr/>
          <p:nvPr/>
        </p:nvSpPr>
        <p:spPr>
          <a:xfrm>
            <a:off x="640080" y="3520440"/>
            <a:ext cx="2286000" cy="27432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FLUTTER / DART WEB ARCHITECTURE</a:t>
            </a:r>
            <a:endParaRPr lang="en-US" sz="850" dirty="0"/>
          </a:p>
        </p:txBody>
      </p:sp>
      <p:sp>
        <p:nvSpPr>
          <p:cNvPr id="20" name="Shape 18"/>
          <p:cNvSpPr/>
          <p:nvPr/>
        </p:nvSpPr>
        <p:spPr>
          <a:xfrm>
            <a:off x="640080" y="3840480"/>
            <a:ext cx="2286000" cy="0"/>
          </a:xfrm>
          <a:prstGeom prst="line">
            <a:avLst/>
          </a:prstGeom>
          <a:noFill/>
          <a:ln w="12700">
            <a:solidFill>
              <a:srgbClr val="334155"/>
            </a:solidFill>
            <a:prstDash val="solid"/>
          </a:ln>
        </p:spPr>
      </p:sp>
      <p:sp>
        <p:nvSpPr>
          <p:cNvPr id="21" name="Text 19"/>
          <p:cNvSpPr/>
          <p:nvPr/>
        </p:nvSpPr>
        <p:spPr>
          <a:xfrm>
            <a:off x="640080" y="4023360"/>
            <a:ext cx="2286000" cy="1828800"/>
          </a:xfrm>
          <a:prstGeom prst="rect">
            <a:avLst/>
          </a:prstGeom>
          <a:noFill/>
          <a:ln/>
        </p:spPr>
        <p:txBody>
          <a:bodyPr wrap="square" rtlCol="0" anchor="ctr"/>
          <a:lstStyle/>
          <a:p>
            <a:pPr indent="0" marL="0">
              <a:lnSpc>
                <a:spcPct val="120000"/>
              </a:lnSpc>
              <a:buNone/>
            </a:pPr>
            <a:r>
              <a:rPr lang="en-US" sz="950" dirty="0">
                <a:solidFill>
                  <a:srgbClr val="F8FAFC"/>
                </a:solidFill>
                <a:latin typeface="Arial" pitchFamily="34" charset="0"/>
                <a:ea typeface="Arial" pitchFamily="34" charset="-122"/>
                <a:cs typeface="Arial" pitchFamily="34" charset="-120"/>
              </a:rPr>
              <a:t>• Multi-tab AI-Native Campus Browser</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Tailwind CSS visual design</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Responsive layout for mobile &amp; desktop</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Zero-lag client-side state machine</a:t>
            </a:r>
            <a:endParaRPr lang="en-US" sz="950" dirty="0"/>
          </a:p>
        </p:txBody>
      </p:sp>
      <p:sp>
        <p:nvSpPr>
          <p:cNvPr id="22" name="Shape 20"/>
          <p:cNvSpPr/>
          <p:nvPr/>
        </p:nvSpPr>
        <p:spPr>
          <a:xfrm>
            <a:off x="3291840" y="3017520"/>
            <a:ext cx="2651760" cy="3108960"/>
          </a:xfrm>
          <a:prstGeom prst="roundRect">
            <a:avLst>
              <a:gd name="adj" fmla="val 5172"/>
            </a:avLst>
          </a:prstGeom>
          <a:solidFill>
            <a:srgbClr val="161E2E"/>
          </a:solidFill>
          <a:ln w="15240">
            <a:solidFill>
              <a:srgbClr val="10B981"/>
            </a:solidFill>
            <a:prstDash val="solid"/>
          </a:ln>
        </p:spPr>
      </p:sp>
      <p:sp>
        <p:nvSpPr>
          <p:cNvPr id="23" name="Text 21"/>
          <p:cNvSpPr/>
          <p:nvPr/>
        </p:nvSpPr>
        <p:spPr>
          <a:xfrm>
            <a:off x="3474720" y="3200400"/>
            <a:ext cx="2286000" cy="32004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Backend (Serverpod 1.2.6)</a:t>
            </a:r>
            <a:endParaRPr lang="en-US" sz="1200" dirty="0"/>
          </a:p>
        </p:txBody>
      </p:sp>
      <p:sp>
        <p:nvSpPr>
          <p:cNvPr id="24" name="Text 22"/>
          <p:cNvSpPr/>
          <p:nvPr/>
        </p:nvSpPr>
        <p:spPr>
          <a:xfrm>
            <a:off x="3474720" y="3520440"/>
            <a:ext cx="2286000" cy="27432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DART ENTERPRISE SERVER FRAMEWORK</a:t>
            </a:r>
            <a:endParaRPr lang="en-US" sz="850" dirty="0"/>
          </a:p>
        </p:txBody>
      </p:sp>
      <p:sp>
        <p:nvSpPr>
          <p:cNvPr id="25" name="Shape 23"/>
          <p:cNvSpPr/>
          <p:nvPr/>
        </p:nvSpPr>
        <p:spPr>
          <a:xfrm>
            <a:off x="3474720" y="3840480"/>
            <a:ext cx="2286000" cy="0"/>
          </a:xfrm>
          <a:prstGeom prst="line">
            <a:avLst/>
          </a:prstGeom>
          <a:noFill/>
          <a:ln w="12700">
            <a:solidFill>
              <a:srgbClr val="334155"/>
            </a:solidFill>
            <a:prstDash val="solid"/>
          </a:ln>
        </p:spPr>
      </p:sp>
      <p:sp>
        <p:nvSpPr>
          <p:cNvPr id="26" name="Text 24"/>
          <p:cNvSpPr/>
          <p:nvPr/>
        </p:nvSpPr>
        <p:spPr>
          <a:xfrm>
            <a:off x="3474720" y="4023360"/>
            <a:ext cx="2286000" cy="1828800"/>
          </a:xfrm>
          <a:prstGeom prst="rect">
            <a:avLst/>
          </a:prstGeom>
          <a:noFill/>
          <a:ln/>
        </p:spPr>
        <p:txBody>
          <a:bodyPr wrap="square" rtlCol="0" anchor="ctr"/>
          <a:lstStyle/>
          <a:p>
            <a:pPr indent="0" marL="0">
              <a:lnSpc>
                <a:spcPct val="120000"/>
              </a:lnSpc>
              <a:buNone/>
            </a:pPr>
            <a:r>
              <a:rPr lang="en-US" sz="950" dirty="0">
                <a:solidFill>
                  <a:srgbClr val="F8FAFC"/>
                </a:solidFill>
                <a:latin typeface="Arial" pitchFamily="34" charset="0"/>
                <a:ea typeface="Arial" pitchFamily="34" charset="-122"/>
                <a:cs typeface="Arial" pitchFamily="34" charset="-120"/>
              </a:rPr>
              <a:t>• StudyBuddyEndpoint (Matching matrix)</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CampusEventEndpoint (RBAC validation)</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QuizArenaEndpoint (WebSocket duels)</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AdaLCompanionEndpoint (AI agent)</a:t>
            </a:r>
            <a:endParaRPr lang="en-US" sz="950" dirty="0"/>
          </a:p>
        </p:txBody>
      </p:sp>
      <p:sp>
        <p:nvSpPr>
          <p:cNvPr id="27" name="Shape 25"/>
          <p:cNvSpPr/>
          <p:nvPr/>
        </p:nvSpPr>
        <p:spPr>
          <a:xfrm>
            <a:off x="6126480" y="3017520"/>
            <a:ext cx="2651760" cy="3108960"/>
          </a:xfrm>
          <a:prstGeom prst="roundRect">
            <a:avLst>
              <a:gd name="adj" fmla="val 5172"/>
            </a:avLst>
          </a:prstGeom>
          <a:solidFill>
            <a:srgbClr val="161E2E"/>
          </a:solidFill>
          <a:ln w="15240">
            <a:solidFill>
              <a:srgbClr val="6366F1"/>
            </a:solidFill>
            <a:prstDash val="solid"/>
          </a:ln>
        </p:spPr>
      </p:sp>
      <p:sp>
        <p:nvSpPr>
          <p:cNvPr id="28" name="Text 26"/>
          <p:cNvSpPr/>
          <p:nvPr/>
        </p:nvSpPr>
        <p:spPr>
          <a:xfrm>
            <a:off x="6309360" y="3200400"/>
            <a:ext cx="2286000" cy="320040"/>
          </a:xfrm>
          <a:prstGeom prst="rect">
            <a:avLst/>
          </a:prstGeom>
          <a:noFill/>
          <a:ln/>
        </p:spPr>
        <p:txBody>
          <a:bodyPr wrap="square" rtlCol="0" anchor="ctr"/>
          <a:lstStyle/>
          <a:p>
            <a:pPr indent="0" marL="0">
              <a:buNone/>
            </a:pPr>
            <a:r>
              <a:rPr lang="en-US" sz="1200" b="1" dirty="0">
                <a:solidFill>
                  <a:srgbClr val="6366F1"/>
                </a:solidFill>
                <a:latin typeface="Arial" pitchFamily="34" charset="0"/>
                <a:ea typeface="Arial" pitchFamily="34" charset="-122"/>
                <a:cs typeface="Arial" pitchFamily="34" charset="-120"/>
              </a:rPr>
              <a:t>Database &amp; Cloud Infra</a:t>
            </a:r>
            <a:endParaRPr lang="en-US" sz="1200" dirty="0"/>
          </a:p>
        </p:txBody>
      </p:sp>
      <p:sp>
        <p:nvSpPr>
          <p:cNvPr id="29" name="Text 27"/>
          <p:cNvSpPr/>
          <p:nvPr/>
        </p:nvSpPr>
        <p:spPr>
          <a:xfrm>
            <a:off x="6309360" y="3520440"/>
            <a:ext cx="2286000" cy="27432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SERVERPOD CLOUD STARTER TIER</a:t>
            </a:r>
            <a:endParaRPr lang="en-US" sz="850" dirty="0"/>
          </a:p>
        </p:txBody>
      </p:sp>
      <p:sp>
        <p:nvSpPr>
          <p:cNvPr id="30" name="Shape 28"/>
          <p:cNvSpPr/>
          <p:nvPr/>
        </p:nvSpPr>
        <p:spPr>
          <a:xfrm>
            <a:off x="6309360" y="3840480"/>
            <a:ext cx="2286000" cy="0"/>
          </a:xfrm>
          <a:prstGeom prst="line">
            <a:avLst/>
          </a:prstGeom>
          <a:noFill/>
          <a:ln w="12700">
            <a:solidFill>
              <a:srgbClr val="334155"/>
            </a:solidFill>
            <a:prstDash val="solid"/>
          </a:ln>
        </p:spPr>
      </p:sp>
      <p:sp>
        <p:nvSpPr>
          <p:cNvPr id="31" name="Text 29"/>
          <p:cNvSpPr/>
          <p:nvPr/>
        </p:nvSpPr>
        <p:spPr>
          <a:xfrm>
            <a:off x="6309360" y="4023360"/>
            <a:ext cx="2286000" cy="1828800"/>
          </a:xfrm>
          <a:prstGeom prst="rect">
            <a:avLst/>
          </a:prstGeom>
          <a:noFill/>
          <a:ln/>
        </p:spPr>
        <p:txBody>
          <a:bodyPr wrap="square" rtlCol="0" anchor="ctr"/>
          <a:lstStyle/>
          <a:p>
            <a:pPr indent="0" marL="0">
              <a:lnSpc>
                <a:spcPct val="120000"/>
              </a:lnSpc>
              <a:buNone/>
            </a:pPr>
            <a:r>
              <a:rPr lang="en-US" sz="950" dirty="0">
                <a:solidFill>
                  <a:srgbClr val="F8FAFC"/>
                </a:solidFill>
                <a:latin typeface="Arial" pitchFamily="34" charset="0"/>
                <a:ea typeface="Arial" pitchFamily="34" charset="-122"/>
                <a:cs typeface="Arial" pitchFamily="34" charset="-120"/>
              </a:rPr>
              <a:t>• Managed PostgreSQL 15 via Serverpod ORM</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Redis 7 Pub/Sub for real-time WebSocket</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Zero-downtime Serverpod Cloud deploy</a:t>
            </a:r>
            <a:endParaRPr lang="en-US" sz="950" dirty="0"/>
          </a:p>
          <a:p>
            <a:pPr indent="0" marL="0">
              <a:lnSpc>
                <a:spcPct val="120000"/>
              </a:lnSpc>
              <a:buNone/>
            </a:pPr>
            <a:r>
              <a:rPr lang="en-US" sz="950" dirty="0">
                <a:solidFill>
                  <a:srgbClr val="F8FAFC"/>
                </a:solidFill>
                <a:latin typeface="Arial" pitchFamily="34" charset="0"/>
                <a:ea typeface="Arial" pitchFamily="34" charset="-122"/>
                <a:cs typeface="Arial" pitchFamily="34" charset="-120"/>
              </a:rPr>
              <a:t>• High availability SSL endpoints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20040"/>
            <a:ext cx="8229600" cy="36576"/>
          </a:xfrm>
          <a:prstGeom prst="rect">
            <a:avLst/>
          </a:prstGeom>
          <a:solidFill>
            <a:srgbClr val="6366F1"/>
          </a:solidFill>
          <a:ln/>
        </p:spPr>
      </p:sp>
      <p:sp>
        <p:nvSpPr>
          <p:cNvPr id="3" name="Text 1"/>
          <p:cNvSpPr/>
          <p:nvPr/>
        </p:nvSpPr>
        <p:spPr>
          <a:xfrm>
            <a:off x="457200" y="6492240"/>
            <a:ext cx="68580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CampusPulse · Campus Life, Upgraded (Flutter + Serverpod) · AdaL Companion</a:t>
            </a:r>
            <a:endParaRPr lang="en-US" sz="900" dirty="0"/>
          </a:p>
        </p:txBody>
      </p:sp>
      <p:sp>
        <p:nvSpPr>
          <p:cNvPr id="4" name="Text 2"/>
          <p:cNvSpPr/>
          <p:nvPr/>
        </p:nvSpPr>
        <p:spPr>
          <a:xfrm>
            <a:off x="7772400" y="6492240"/>
            <a:ext cx="914400" cy="274320"/>
          </a:xfrm>
          <a:prstGeom prst="rect">
            <a:avLst/>
          </a:prstGeom>
          <a:noFill/>
          <a:ln/>
        </p:spPr>
        <p:txBody>
          <a:bodyPr wrap="square" rtlCol="0" anchor="ctr"/>
          <a:lstStyle/>
          <a:p>
            <a:pPr algn="r" indent="0" marL="0">
              <a:buNone/>
            </a:pPr>
            <a:r>
              <a:rPr lang="en-US" sz="900" b="1" dirty="0">
                <a:solidFill>
                  <a:srgbClr val="6366F1"/>
                </a:solidFill>
                <a:latin typeface="Arial" pitchFamily="34" charset="0"/>
                <a:ea typeface="Arial" pitchFamily="34" charset="-122"/>
                <a:cs typeface="Arial" pitchFamily="34" charset="-120"/>
              </a:rPr>
              <a:t>5 / 7</a:t>
            </a:r>
            <a:endParaRPr lang="en-US" sz="900" dirty="0"/>
          </a:p>
        </p:txBody>
      </p:sp>
      <p:sp>
        <p:nvSpPr>
          <p:cNvPr id="5" name="Text 3"/>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Slide 5: Key Features</a:t>
            </a:r>
            <a:endParaRPr lang="en-US" sz="2200" dirty="0"/>
          </a:p>
        </p:txBody>
      </p:sp>
      <p:sp>
        <p:nvSpPr>
          <p:cNvPr id="6" name="Shape 4"/>
          <p:cNvSpPr/>
          <p:nvPr/>
        </p:nvSpPr>
        <p:spPr>
          <a:xfrm>
            <a:off x="457200" y="1188720"/>
            <a:ext cx="4023360" cy="2286000"/>
          </a:xfrm>
          <a:prstGeom prst="roundRect">
            <a:avLst>
              <a:gd name="adj" fmla="val 6000"/>
            </a:avLst>
          </a:prstGeom>
          <a:solidFill>
            <a:srgbClr val="161E2E"/>
          </a:solidFill>
          <a:ln w="15240">
            <a:solidFill>
              <a:srgbClr val="6366F1"/>
            </a:solidFill>
            <a:prstDash val="solid"/>
          </a:ln>
        </p:spPr>
      </p:sp>
      <p:sp>
        <p:nvSpPr>
          <p:cNvPr id="7" name="Text 5"/>
          <p:cNvSpPr/>
          <p:nvPr/>
        </p:nvSpPr>
        <p:spPr>
          <a:xfrm>
            <a:off x="685800" y="1371600"/>
            <a:ext cx="3566160" cy="320040"/>
          </a:xfrm>
          <a:prstGeom prst="rect">
            <a:avLst/>
          </a:prstGeom>
          <a:noFill/>
          <a:ln/>
        </p:spPr>
        <p:txBody>
          <a:bodyPr wrap="square" rtlCol="0" anchor="ctr"/>
          <a:lstStyle/>
          <a:p>
            <a:pPr indent="0" marL="0">
              <a:buNone/>
            </a:pPr>
            <a:r>
              <a:rPr lang="en-US" sz="1050" b="1" dirty="0">
                <a:solidFill>
                  <a:srgbClr val="6366F1"/>
                </a:solidFill>
                <a:latin typeface="Arial" pitchFamily="34" charset="0"/>
                <a:ea typeface="Arial" pitchFamily="34" charset="-122"/>
                <a:cs typeface="Arial" pitchFamily="34" charset="-120"/>
              </a:rPr>
              <a:t>🤖  FEATURE 01: ADAL: AUTONOMOUS MULTIMODAL COMPANION</a:t>
            </a:r>
            <a:endParaRPr lang="en-US" sz="1050" dirty="0"/>
          </a:p>
        </p:txBody>
      </p:sp>
      <p:sp>
        <p:nvSpPr>
          <p:cNvPr id="8" name="Text 6"/>
          <p:cNvSpPr/>
          <p:nvPr/>
        </p:nvSpPr>
        <p:spPr>
          <a:xfrm>
            <a:off x="685800" y="1691640"/>
            <a:ext cx="3566160" cy="27432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Multimodal Ingest &amp; Proactive Action Execution</a:t>
            </a:r>
            <a:endParaRPr lang="en-US" sz="900" dirty="0"/>
          </a:p>
        </p:txBody>
      </p:sp>
      <p:sp>
        <p:nvSpPr>
          <p:cNvPr id="9" name="Shape 7"/>
          <p:cNvSpPr/>
          <p:nvPr/>
        </p:nvSpPr>
        <p:spPr>
          <a:xfrm>
            <a:off x="685800" y="2011680"/>
            <a:ext cx="3566160" cy="0"/>
          </a:xfrm>
          <a:prstGeom prst="line">
            <a:avLst/>
          </a:prstGeom>
          <a:noFill/>
          <a:ln w="10160">
            <a:solidFill>
              <a:srgbClr val="334155"/>
            </a:solidFill>
            <a:prstDash val="solid"/>
          </a:ln>
        </p:spPr>
      </p:sp>
      <p:sp>
        <p:nvSpPr>
          <p:cNvPr id="10" name="Text 8"/>
          <p:cNvSpPr/>
          <p:nvPr/>
        </p:nvSpPr>
        <p:spPr>
          <a:xfrm>
            <a:off x="685800" y="214884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Ingests physical event flyers with OCR; digests WhatsApp group chat dumps; transcribes spoken voice memos.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Proactively surfaces impending midterms (CS 189) and detects mutual free hours.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1-Click "Execute Action" books study spots and notifies classmates automatically.</a:t>
            </a:r>
            <a:endParaRPr lang="en-US" sz="950" dirty="0"/>
          </a:p>
        </p:txBody>
      </p:sp>
      <p:sp>
        <p:nvSpPr>
          <p:cNvPr id="11" name="Shape 9"/>
          <p:cNvSpPr/>
          <p:nvPr/>
        </p:nvSpPr>
        <p:spPr>
          <a:xfrm>
            <a:off x="4663440" y="1188720"/>
            <a:ext cx="4023360" cy="2286000"/>
          </a:xfrm>
          <a:prstGeom prst="roundRect">
            <a:avLst>
              <a:gd name="adj" fmla="val 6000"/>
            </a:avLst>
          </a:prstGeom>
          <a:solidFill>
            <a:srgbClr val="161E2E"/>
          </a:solidFill>
          <a:ln w="15240">
            <a:solidFill>
              <a:srgbClr val="06B6D4"/>
            </a:solidFill>
            <a:prstDash val="solid"/>
          </a:ln>
        </p:spPr>
      </p:sp>
      <p:sp>
        <p:nvSpPr>
          <p:cNvPr id="12" name="Text 10"/>
          <p:cNvSpPr/>
          <p:nvPr/>
        </p:nvSpPr>
        <p:spPr>
          <a:xfrm>
            <a:off x="4892040" y="1371600"/>
            <a:ext cx="3566160" cy="320040"/>
          </a:xfrm>
          <a:prstGeom prst="rect">
            <a:avLst/>
          </a:prstGeom>
          <a:noFill/>
          <a:ln/>
        </p:spPr>
        <p:txBody>
          <a:bodyPr wrap="square" rtlCol="0" anchor="ctr"/>
          <a:lstStyle/>
          <a:p>
            <a:pPr indent="0" marL="0">
              <a:buNone/>
            </a:pPr>
            <a:r>
              <a:rPr lang="en-US" sz="1050" b="1" dirty="0">
                <a:solidFill>
                  <a:srgbClr val="06B6D4"/>
                </a:solidFill>
                <a:latin typeface="Arial" pitchFamily="34" charset="0"/>
                <a:ea typeface="Arial" pitchFamily="34" charset="-122"/>
                <a:cs typeface="Arial" pitchFamily="34" charset="-120"/>
              </a:rPr>
              <a:t>🎓  FEATURE 02: INTELLIGENT STUDY-BUDDY MATCHER</a:t>
            </a:r>
            <a:endParaRPr lang="en-US" sz="1050" dirty="0"/>
          </a:p>
        </p:txBody>
      </p:sp>
      <p:sp>
        <p:nvSpPr>
          <p:cNvPr id="13" name="Text 11"/>
          <p:cNvSpPr/>
          <p:nvPr/>
        </p:nvSpPr>
        <p:spPr>
          <a:xfrm>
            <a:off x="4892040" y="1691640"/>
            <a:ext cx="3566160" cy="27432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Deep Academic Compatibility &amp; Pomodoro Synchronization</a:t>
            </a:r>
            <a:endParaRPr lang="en-US" sz="900" dirty="0"/>
          </a:p>
        </p:txBody>
      </p:sp>
      <p:sp>
        <p:nvSpPr>
          <p:cNvPr id="14" name="Shape 12"/>
          <p:cNvSpPr/>
          <p:nvPr/>
        </p:nvSpPr>
        <p:spPr>
          <a:xfrm>
            <a:off x="4892040" y="2011680"/>
            <a:ext cx="3566160" cy="0"/>
          </a:xfrm>
          <a:prstGeom prst="line">
            <a:avLst/>
          </a:prstGeom>
          <a:noFill/>
          <a:ln w="10160">
            <a:solidFill>
              <a:srgbClr val="334155"/>
            </a:solidFill>
            <a:prstDash val="solid"/>
          </a:ln>
        </p:spPr>
      </p:sp>
      <p:sp>
        <p:nvSpPr>
          <p:cNvPr id="15" name="Text 13"/>
          <p:cNvSpPr/>
          <p:nvPr/>
        </p:nvSpPr>
        <p:spPr>
          <a:xfrm>
            <a:off x="4892040" y="214884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Matches students based on shared Berkeley coursework (CS 189, CS 162, DATA 100, MATH 53).</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Evaluates study styles (50/10 Pomodoro, Whiteboard Discussion, Flashcard Drills).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Instant schedule overlap calculation &amp; direct 1-click study invitations.</a:t>
            </a:r>
            <a:endParaRPr lang="en-US" sz="950" dirty="0"/>
          </a:p>
        </p:txBody>
      </p:sp>
      <p:sp>
        <p:nvSpPr>
          <p:cNvPr id="16" name="Shape 14"/>
          <p:cNvSpPr/>
          <p:nvPr/>
        </p:nvSpPr>
        <p:spPr>
          <a:xfrm>
            <a:off x="457200" y="3657600"/>
            <a:ext cx="4023360" cy="2286000"/>
          </a:xfrm>
          <a:prstGeom prst="roundRect">
            <a:avLst>
              <a:gd name="adj" fmla="val 6000"/>
            </a:avLst>
          </a:prstGeom>
          <a:solidFill>
            <a:srgbClr val="161E2E"/>
          </a:solidFill>
          <a:ln w="15240">
            <a:solidFill>
              <a:srgbClr val="10B981"/>
            </a:solidFill>
            <a:prstDash val="solid"/>
          </a:ln>
        </p:spPr>
      </p:sp>
      <p:sp>
        <p:nvSpPr>
          <p:cNvPr id="17" name="Text 15"/>
          <p:cNvSpPr/>
          <p:nvPr/>
        </p:nvSpPr>
        <p:spPr>
          <a:xfrm>
            <a:off x="685800" y="3840480"/>
            <a:ext cx="3566160" cy="320040"/>
          </a:xfrm>
          <a:prstGeom prst="rect">
            <a:avLst/>
          </a:prstGeom>
          <a:noFill/>
          <a:ln/>
        </p:spPr>
        <p:txBody>
          <a:bodyPr wrap="square" rtlCol="0" anchor="ctr"/>
          <a:lstStyle/>
          <a:p>
            <a:pPr indent="0" marL="0">
              <a:buNone/>
            </a:pPr>
            <a:r>
              <a:rPr lang="en-US" sz="1050" b="1" dirty="0">
                <a:solidFill>
                  <a:srgbClr val="10B981"/>
                </a:solidFill>
                <a:latin typeface="Arial" pitchFamily="34" charset="0"/>
                <a:ea typeface="Arial" pitchFamily="34" charset="-122"/>
                <a:cs typeface="Arial" pitchFamily="34" charset="-120"/>
              </a:rPr>
              <a:t>🎪  FEATURE 03: LIVE CAMPUS EVENT BULLETIN WITH RBAC AUTHORITY</a:t>
            </a:r>
            <a:endParaRPr lang="en-US" sz="1050" dirty="0"/>
          </a:p>
        </p:txBody>
      </p:sp>
      <p:sp>
        <p:nvSpPr>
          <p:cNvPr id="18" name="Text 16"/>
          <p:cNvSpPr/>
          <p:nvPr/>
        </p:nvSpPr>
        <p:spPr>
          <a:xfrm>
            <a:off x="685800" y="4160520"/>
            <a:ext cx="3566160" cy="27432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Strict Role-Based Publishing vs Browsing Enforcement</a:t>
            </a:r>
            <a:endParaRPr lang="en-US" sz="900" dirty="0"/>
          </a:p>
        </p:txBody>
      </p:sp>
      <p:sp>
        <p:nvSpPr>
          <p:cNvPr id="19" name="Shape 17"/>
          <p:cNvSpPr/>
          <p:nvPr/>
        </p:nvSpPr>
        <p:spPr>
          <a:xfrm>
            <a:off x="685800" y="4480560"/>
            <a:ext cx="3566160" cy="0"/>
          </a:xfrm>
          <a:prstGeom prst="line">
            <a:avLst/>
          </a:prstGeom>
          <a:noFill/>
          <a:ln w="10160">
            <a:solidFill>
              <a:srgbClr val="334155"/>
            </a:solidFill>
            <a:prstDash val="solid"/>
          </a:ln>
        </p:spPr>
      </p:sp>
      <p:sp>
        <p:nvSpPr>
          <p:cNvPr id="20" name="Text 18"/>
          <p:cNvSpPr/>
          <p:nvPr/>
        </p:nvSpPr>
        <p:spPr>
          <a:xfrm>
            <a:off x="685800" y="461772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Students can browse, filter, and RSVP, but cannot spam unauthorized postings.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Authorized Faculty Professors (Prof. Martinez) and Club Heads (Jordan Lee) publish official clinics, reviews, and hackathons.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Real-time attendee counter with max capacity ceiling warnings.</a:t>
            </a:r>
            <a:endParaRPr lang="en-US" sz="950" dirty="0"/>
          </a:p>
        </p:txBody>
      </p:sp>
      <p:sp>
        <p:nvSpPr>
          <p:cNvPr id="21" name="Shape 19"/>
          <p:cNvSpPr/>
          <p:nvPr/>
        </p:nvSpPr>
        <p:spPr>
          <a:xfrm>
            <a:off x="4663440" y="3657600"/>
            <a:ext cx="4023360" cy="2286000"/>
          </a:xfrm>
          <a:prstGeom prst="roundRect">
            <a:avLst>
              <a:gd name="adj" fmla="val 6000"/>
            </a:avLst>
          </a:prstGeom>
          <a:solidFill>
            <a:srgbClr val="161E2E"/>
          </a:solidFill>
          <a:ln w="15240">
            <a:solidFill>
              <a:srgbClr val="F59E0B"/>
            </a:solidFill>
            <a:prstDash val="solid"/>
          </a:ln>
        </p:spPr>
      </p:sp>
      <p:sp>
        <p:nvSpPr>
          <p:cNvPr id="22" name="Text 20"/>
          <p:cNvSpPr/>
          <p:nvPr/>
        </p:nvSpPr>
        <p:spPr>
          <a:xfrm>
            <a:off x="4892040" y="3840480"/>
            <a:ext cx="3566160" cy="320040"/>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  FEATURE 04: MULTIPLAYER CAMPUS QUIZ ARENA</a:t>
            </a:r>
            <a:endParaRPr lang="en-US" sz="1050" dirty="0"/>
          </a:p>
        </p:txBody>
      </p:sp>
      <p:sp>
        <p:nvSpPr>
          <p:cNvPr id="23" name="Text 21"/>
          <p:cNvSpPr/>
          <p:nvPr/>
        </p:nvSpPr>
        <p:spPr>
          <a:xfrm>
            <a:off x="4892040" y="4160520"/>
            <a:ext cx="3566160" cy="27432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Real-Time Synchronous Course Trivia Duels</a:t>
            </a:r>
            <a:endParaRPr lang="en-US" sz="900" dirty="0"/>
          </a:p>
        </p:txBody>
      </p:sp>
      <p:sp>
        <p:nvSpPr>
          <p:cNvPr id="24" name="Shape 22"/>
          <p:cNvSpPr/>
          <p:nvPr/>
        </p:nvSpPr>
        <p:spPr>
          <a:xfrm>
            <a:off x="4892040" y="4480560"/>
            <a:ext cx="3566160" cy="0"/>
          </a:xfrm>
          <a:prstGeom prst="line">
            <a:avLst/>
          </a:prstGeom>
          <a:noFill/>
          <a:ln w="10160">
            <a:solidFill>
              <a:srgbClr val="334155"/>
            </a:solidFill>
            <a:prstDash val="solid"/>
          </a:ln>
        </p:spPr>
      </p:sp>
      <p:sp>
        <p:nvSpPr>
          <p:cNvPr id="25" name="Text 23"/>
          <p:cNvSpPr/>
          <p:nvPr/>
        </p:nvSpPr>
        <p:spPr>
          <a:xfrm>
            <a:off x="4892040" y="461772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15-second timed multiplayer battles on Machine Learning, OS deadlocks, and Multivariable Calculus.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Streak multipliers, dynamic point scoring, and instant answer explanations.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Seamless post-duel study partner matching ("You both scored 90%+ in CS 189 - pair up now!").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20040"/>
            <a:ext cx="8229600" cy="36576"/>
          </a:xfrm>
          <a:prstGeom prst="rect">
            <a:avLst/>
          </a:prstGeom>
          <a:solidFill>
            <a:srgbClr val="6366F1"/>
          </a:solidFill>
          <a:ln/>
        </p:spPr>
      </p:sp>
      <p:sp>
        <p:nvSpPr>
          <p:cNvPr id="3" name="Text 1"/>
          <p:cNvSpPr/>
          <p:nvPr/>
        </p:nvSpPr>
        <p:spPr>
          <a:xfrm>
            <a:off x="457200" y="6492240"/>
            <a:ext cx="68580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CampusPulse · Campus Life, Upgraded (Flutter + Serverpod) · AdaL Companion</a:t>
            </a:r>
            <a:endParaRPr lang="en-US" sz="900" dirty="0"/>
          </a:p>
        </p:txBody>
      </p:sp>
      <p:sp>
        <p:nvSpPr>
          <p:cNvPr id="4" name="Text 2"/>
          <p:cNvSpPr/>
          <p:nvPr/>
        </p:nvSpPr>
        <p:spPr>
          <a:xfrm>
            <a:off x="7772400" y="6492240"/>
            <a:ext cx="914400" cy="274320"/>
          </a:xfrm>
          <a:prstGeom prst="rect">
            <a:avLst/>
          </a:prstGeom>
          <a:noFill/>
          <a:ln/>
        </p:spPr>
        <p:txBody>
          <a:bodyPr wrap="square" rtlCol="0" anchor="ctr"/>
          <a:lstStyle/>
          <a:p>
            <a:pPr algn="r" indent="0" marL="0">
              <a:buNone/>
            </a:pPr>
            <a:r>
              <a:rPr lang="en-US" sz="900" b="1" dirty="0">
                <a:solidFill>
                  <a:srgbClr val="6366F1"/>
                </a:solidFill>
                <a:latin typeface="Arial" pitchFamily="34" charset="0"/>
                <a:ea typeface="Arial" pitchFamily="34" charset="-122"/>
                <a:cs typeface="Arial" pitchFamily="34" charset="-120"/>
              </a:rPr>
              <a:t>6 / 7</a:t>
            </a:r>
            <a:endParaRPr lang="en-US" sz="900" dirty="0"/>
          </a:p>
        </p:txBody>
      </p:sp>
      <p:sp>
        <p:nvSpPr>
          <p:cNvPr id="5" name="Text 3"/>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Slide 6: Impact + Feasibility</a:t>
            </a:r>
            <a:endParaRPr lang="en-US" sz="2200" dirty="0"/>
          </a:p>
        </p:txBody>
      </p:sp>
      <p:sp>
        <p:nvSpPr>
          <p:cNvPr id="6" name="Shape 4"/>
          <p:cNvSpPr/>
          <p:nvPr/>
        </p:nvSpPr>
        <p:spPr>
          <a:xfrm>
            <a:off x="457200" y="1188720"/>
            <a:ext cx="4023360" cy="2286000"/>
          </a:xfrm>
          <a:prstGeom prst="roundRect">
            <a:avLst>
              <a:gd name="adj" fmla="val 6000"/>
            </a:avLst>
          </a:prstGeom>
          <a:solidFill>
            <a:srgbClr val="161E2E"/>
          </a:solidFill>
          <a:ln w="15240">
            <a:solidFill>
              <a:srgbClr val="06B6D4"/>
            </a:solidFill>
            <a:prstDash val="solid"/>
          </a:ln>
        </p:spPr>
      </p:sp>
      <p:sp>
        <p:nvSpPr>
          <p:cNvPr id="7" name="Text 5"/>
          <p:cNvSpPr/>
          <p:nvPr/>
        </p:nvSpPr>
        <p:spPr>
          <a:xfrm>
            <a:off x="685800" y="1371600"/>
            <a:ext cx="3566160" cy="320040"/>
          </a:xfrm>
          <a:prstGeom prst="rect">
            <a:avLst/>
          </a:prstGeom>
          <a:noFill/>
          <a:ln/>
        </p:spPr>
        <p:txBody>
          <a:bodyPr wrap="square" rtlCol="0" anchor="ctr"/>
          <a:lstStyle/>
          <a:p>
            <a:pPr indent="0" marL="0">
              <a:buNone/>
            </a:pPr>
            <a:r>
              <a:rPr lang="en-US" sz="1300" b="1" dirty="0">
                <a:solidFill>
                  <a:srgbClr val="06B6D4"/>
                </a:solidFill>
                <a:latin typeface="Arial" pitchFamily="34" charset="0"/>
                <a:ea typeface="Arial" pitchFamily="34" charset="-122"/>
                <a:cs typeface="Arial" pitchFamily="34" charset="-120"/>
              </a:rPr>
              <a:t>Who Will Benefit?</a:t>
            </a:r>
            <a:endParaRPr lang="en-US" sz="1300" dirty="0"/>
          </a:p>
        </p:txBody>
      </p:sp>
      <p:sp>
        <p:nvSpPr>
          <p:cNvPr id="8" name="Text 6"/>
          <p:cNvSpPr/>
          <p:nvPr/>
        </p:nvSpPr>
        <p:spPr>
          <a:xfrm>
            <a:off x="685800" y="1691640"/>
            <a:ext cx="3566160" cy="27432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UNIVERSITY ECOSYSTEM</a:t>
            </a:r>
            <a:endParaRPr lang="en-US" sz="850" dirty="0"/>
          </a:p>
        </p:txBody>
      </p:sp>
      <p:sp>
        <p:nvSpPr>
          <p:cNvPr id="9" name="Shape 7"/>
          <p:cNvSpPr/>
          <p:nvPr/>
        </p:nvSpPr>
        <p:spPr>
          <a:xfrm>
            <a:off x="685800" y="2011680"/>
            <a:ext cx="3566160" cy="0"/>
          </a:xfrm>
          <a:prstGeom prst="line">
            <a:avLst/>
          </a:prstGeom>
          <a:noFill/>
          <a:ln w="10160">
            <a:solidFill>
              <a:srgbClr val="334155"/>
            </a:solidFill>
            <a:prstDash val="solid"/>
          </a:ln>
        </p:spPr>
      </p:sp>
      <p:sp>
        <p:nvSpPr>
          <p:cNvPr id="10" name="Text 8"/>
          <p:cNvSpPr/>
          <p:nvPr/>
        </p:nvSpPr>
        <p:spPr>
          <a:xfrm>
            <a:off x="685800" y="214884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Students: Instant discovery of high-fit study partners without wading through hundreds of WhatsApp messages.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Faculty: Maximized attendance at exam review jams and problem clinics.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Student Clubs: High-conversion recruitment for hackathons and tech sprints.</a:t>
            </a:r>
            <a:endParaRPr lang="en-US" sz="950" dirty="0"/>
          </a:p>
        </p:txBody>
      </p:sp>
      <p:sp>
        <p:nvSpPr>
          <p:cNvPr id="11" name="Shape 9"/>
          <p:cNvSpPr/>
          <p:nvPr/>
        </p:nvSpPr>
        <p:spPr>
          <a:xfrm>
            <a:off x="4663440" y="1188720"/>
            <a:ext cx="4023360" cy="2286000"/>
          </a:xfrm>
          <a:prstGeom prst="roundRect">
            <a:avLst>
              <a:gd name="adj" fmla="val 6000"/>
            </a:avLst>
          </a:prstGeom>
          <a:solidFill>
            <a:srgbClr val="161E2E"/>
          </a:solidFill>
          <a:ln w="15240">
            <a:solidFill>
              <a:srgbClr val="10B981"/>
            </a:solidFill>
            <a:prstDash val="solid"/>
          </a:ln>
        </p:spPr>
      </p:sp>
      <p:sp>
        <p:nvSpPr>
          <p:cNvPr id="12" name="Text 10"/>
          <p:cNvSpPr/>
          <p:nvPr/>
        </p:nvSpPr>
        <p:spPr>
          <a:xfrm>
            <a:off x="4892040" y="1371600"/>
            <a:ext cx="356616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Real-World Impact</a:t>
            </a:r>
            <a:endParaRPr lang="en-US" sz="1300" dirty="0"/>
          </a:p>
        </p:txBody>
      </p:sp>
      <p:sp>
        <p:nvSpPr>
          <p:cNvPr id="13" name="Text 11"/>
          <p:cNvSpPr/>
          <p:nvPr/>
        </p:nvSpPr>
        <p:spPr>
          <a:xfrm>
            <a:off x="4892040" y="1691640"/>
            <a:ext cx="3566160" cy="27432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MEASURABLE OUTCOMES</a:t>
            </a:r>
            <a:endParaRPr lang="en-US" sz="850" dirty="0"/>
          </a:p>
        </p:txBody>
      </p:sp>
      <p:sp>
        <p:nvSpPr>
          <p:cNvPr id="14" name="Shape 12"/>
          <p:cNvSpPr/>
          <p:nvPr/>
        </p:nvSpPr>
        <p:spPr>
          <a:xfrm>
            <a:off x="4892040" y="2011680"/>
            <a:ext cx="3566160" cy="0"/>
          </a:xfrm>
          <a:prstGeom prst="line">
            <a:avLst/>
          </a:prstGeom>
          <a:noFill/>
          <a:ln w="10160">
            <a:solidFill>
              <a:srgbClr val="334155"/>
            </a:solidFill>
            <a:prstDash val="solid"/>
          </a:ln>
        </p:spPr>
      </p:sp>
      <p:sp>
        <p:nvSpPr>
          <p:cNvPr id="15" name="Text 13"/>
          <p:cNvSpPr/>
          <p:nvPr/>
        </p:nvSpPr>
        <p:spPr>
          <a:xfrm>
            <a:off x="4892040" y="214884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75% Reduction in coordination friction for study groups.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3x Higher Turnout for academic exam review clinics.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100% Elimination of Bulletin Spam via authenticated role permissions.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Improved Exam Preparedness through gamified quiz duels.</a:t>
            </a:r>
            <a:endParaRPr lang="en-US" sz="950" dirty="0"/>
          </a:p>
        </p:txBody>
      </p:sp>
      <p:sp>
        <p:nvSpPr>
          <p:cNvPr id="16" name="Shape 14"/>
          <p:cNvSpPr/>
          <p:nvPr/>
        </p:nvSpPr>
        <p:spPr>
          <a:xfrm>
            <a:off x="457200" y="3657600"/>
            <a:ext cx="4023360" cy="2286000"/>
          </a:xfrm>
          <a:prstGeom prst="roundRect">
            <a:avLst>
              <a:gd name="adj" fmla="val 6000"/>
            </a:avLst>
          </a:prstGeom>
          <a:solidFill>
            <a:srgbClr val="161E2E"/>
          </a:solidFill>
          <a:ln w="15240">
            <a:solidFill>
              <a:srgbClr val="6366F1"/>
            </a:solidFill>
            <a:prstDash val="solid"/>
          </a:ln>
        </p:spPr>
      </p:sp>
      <p:sp>
        <p:nvSpPr>
          <p:cNvPr id="17" name="Text 15"/>
          <p:cNvSpPr/>
          <p:nvPr/>
        </p:nvSpPr>
        <p:spPr>
          <a:xfrm>
            <a:off x="685800" y="3840480"/>
            <a:ext cx="3566160" cy="320040"/>
          </a:xfrm>
          <a:prstGeom prst="rect">
            <a:avLst/>
          </a:prstGeom>
          <a:noFill/>
          <a:ln/>
        </p:spPr>
        <p:txBody>
          <a:bodyPr wrap="square" rtlCol="0" anchor="ctr"/>
          <a:lstStyle/>
          <a:p>
            <a:pPr indent="0" marL="0">
              <a:buNone/>
            </a:pPr>
            <a:r>
              <a:rPr lang="en-US" sz="1300" b="1" dirty="0">
                <a:solidFill>
                  <a:srgbClr val="6366F1"/>
                </a:solidFill>
                <a:latin typeface="Arial" pitchFamily="34" charset="0"/>
                <a:ea typeface="Arial" pitchFamily="34" charset="-122"/>
                <a:cs typeface="Arial" pitchFamily="34" charset="-120"/>
              </a:rPr>
              <a:t>Scalability &amp; Performance</a:t>
            </a:r>
            <a:endParaRPr lang="en-US" sz="1300" dirty="0"/>
          </a:p>
        </p:txBody>
      </p:sp>
      <p:sp>
        <p:nvSpPr>
          <p:cNvPr id="18" name="Text 16"/>
          <p:cNvSpPr/>
          <p:nvPr/>
        </p:nvSpPr>
        <p:spPr>
          <a:xfrm>
            <a:off x="685800" y="4160520"/>
            <a:ext cx="3566160" cy="27432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ENTERPRISE ARCHITECTURE</a:t>
            </a:r>
            <a:endParaRPr lang="en-US" sz="850" dirty="0"/>
          </a:p>
        </p:txBody>
      </p:sp>
      <p:sp>
        <p:nvSpPr>
          <p:cNvPr id="19" name="Shape 17"/>
          <p:cNvSpPr/>
          <p:nvPr/>
        </p:nvSpPr>
        <p:spPr>
          <a:xfrm>
            <a:off x="685800" y="4480560"/>
            <a:ext cx="3566160" cy="0"/>
          </a:xfrm>
          <a:prstGeom prst="line">
            <a:avLst/>
          </a:prstGeom>
          <a:noFill/>
          <a:ln w="10160">
            <a:solidFill>
              <a:srgbClr val="334155"/>
            </a:solidFill>
            <a:prstDash val="solid"/>
          </a:ln>
        </p:spPr>
      </p:sp>
      <p:sp>
        <p:nvSpPr>
          <p:cNvPr id="20" name="Text 18"/>
          <p:cNvSpPr/>
          <p:nvPr/>
        </p:nvSpPr>
        <p:spPr>
          <a:xfrm>
            <a:off x="685800" y="461772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Built on Serverpod: Dart compiled to native machine code for maximum throughput.</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Redis Pub/Sub: Low-latency real-time broadcasting to thousands of concurrent users.</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PostgreSQL Connection Pooling for massive query concurrency.</a:t>
            </a:r>
            <a:endParaRPr lang="en-US" sz="950" dirty="0"/>
          </a:p>
        </p:txBody>
      </p:sp>
      <p:sp>
        <p:nvSpPr>
          <p:cNvPr id="21" name="Shape 19"/>
          <p:cNvSpPr/>
          <p:nvPr/>
        </p:nvSpPr>
        <p:spPr>
          <a:xfrm>
            <a:off x="4663440" y="3657600"/>
            <a:ext cx="4023360" cy="2286000"/>
          </a:xfrm>
          <a:prstGeom prst="roundRect">
            <a:avLst>
              <a:gd name="adj" fmla="val 6000"/>
            </a:avLst>
          </a:prstGeom>
          <a:solidFill>
            <a:srgbClr val="161E2E"/>
          </a:solidFill>
          <a:ln w="15240">
            <a:solidFill>
              <a:srgbClr val="8B5CF6"/>
            </a:solidFill>
            <a:prstDash val="solid"/>
          </a:ln>
        </p:spPr>
      </p:sp>
      <p:sp>
        <p:nvSpPr>
          <p:cNvPr id="22" name="Text 20"/>
          <p:cNvSpPr/>
          <p:nvPr/>
        </p:nvSpPr>
        <p:spPr>
          <a:xfrm>
            <a:off x="4892040" y="3840480"/>
            <a:ext cx="3566160" cy="320040"/>
          </a:xfrm>
          <a:prstGeom prst="rect">
            <a:avLst/>
          </a:prstGeom>
          <a:noFill/>
          <a:ln/>
        </p:spPr>
        <p:txBody>
          <a:bodyPr wrap="square" rtlCol="0" anchor="ctr"/>
          <a:lstStyle/>
          <a:p>
            <a:pPr indent="0" marL="0">
              <a:buNone/>
            </a:pPr>
            <a:r>
              <a:rPr lang="en-US" sz="1300" b="1" dirty="0">
                <a:solidFill>
                  <a:srgbClr val="8B5CF6"/>
                </a:solidFill>
                <a:latin typeface="Arial" pitchFamily="34" charset="0"/>
                <a:ea typeface="Arial" pitchFamily="34" charset="-122"/>
                <a:cs typeface="Arial" pitchFamily="34" charset="-120"/>
              </a:rPr>
              <a:t>Feasibility &amp; Deployment Cost</a:t>
            </a:r>
            <a:endParaRPr lang="en-US" sz="1300" dirty="0"/>
          </a:p>
        </p:txBody>
      </p:sp>
      <p:sp>
        <p:nvSpPr>
          <p:cNvPr id="23" name="Text 21"/>
          <p:cNvSpPr/>
          <p:nvPr/>
        </p:nvSpPr>
        <p:spPr>
          <a:xfrm>
            <a:off x="4892040" y="4160520"/>
            <a:ext cx="3566160" cy="27432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STARTER TIER VIABILITY</a:t>
            </a:r>
            <a:endParaRPr lang="en-US" sz="850" dirty="0"/>
          </a:p>
        </p:txBody>
      </p:sp>
      <p:sp>
        <p:nvSpPr>
          <p:cNvPr id="24" name="Shape 22"/>
          <p:cNvSpPr/>
          <p:nvPr/>
        </p:nvSpPr>
        <p:spPr>
          <a:xfrm>
            <a:off x="4892040" y="4480560"/>
            <a:ext cx="3566160" cy="0"/>
          </a:xfrm>
          <a:prstGeom prst="line">
            <a:avLst/>
          </a:prstGeom>
          <a:noFill/>
          <a:ln w="10160">
            <a:solidFill>
              <a:srgbClr val="334155"/>
            </a:solidFill>
            <a:prstDash val="solid"/>
          </a:ln>
        </p:spPr>
      </p:sp>
      <p:sp>
        <p:nvSpPr>
          <p:cNvPr id="25" name="Text 23"/>
          <p:cNvSpPr/>
          <p:nvPr/>
        </p:nvSpPr>
        <p:spPr>
          <a:xfrm>
            <a:off x="4892040" y="4617720"/>
            <a:ext cx="3566160" cy="11887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Serverpod Cloud Starter Tier: 30-day free trial allows immediate zero-cost prototype deployment.</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Serverpod CLI: Single-command deployment (`scloud deploy`).</a:t>
            </a: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Automated GitHub Actions workflow for zero-maintenance CI/CD.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20040"/>
            <a:ext cx="8229600" cy="36576"/>
          </a:xfrm>
          <a:prstGeom prst="rect">
            <a:avLst/>
          </a:prstGeom>
          <a:solidFill>
            <a:srgbClr val="6366F1"/>
          </a:solidFill>
          <a:ln/>
        </p:spPr>
      </p:sp>
      <p:sp>
        <p:nvSpPr>
          <p:cNvPr id="3" name="Text 1"/>
          <p:cNvSpPr/>
          <p:nvPr/>
        </p:nvSpPr>
        <p:spPr>
          <a:xfrm>
            <a:off x="457200" y="6492240"/>
            <a:ext cx="68580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CampusPulse · Campus Life, Upgraded (Flutter + Serverpod) · AdaL Companion</a:t>
            </a:r>
            <a:endParaRPr lang="en-US" sz="900" dirty="0"/>
          </a:p>
        </p:txBody>
      </p:sp>
      <p:sp>
        <p:nvSpPr>
          <p:cNvPr id="4" name="Text 2"/>
          <p:cNvSpPr/>
          <p:nvPr/>
        </p:nvSpPr>
        <p:spPr>
          <a:xfrm>
            <a:off x="7772400" y="6492240"/>
            <a:ext cx="914400" cy="274320"/>
          </a:xfrm>
          <a:prstGeom prst="rect">
            <a:avLst/>
          </a:prstGeom>
          <a:noFill/>
          <a:ln/>
        </p:spPr>
        <p:txBody>
          <a:bodyPr wrap="square" rtlCol="0" anchor="ctr"/>
          <a:lstStyle/>
          <a:p>
            <a:pPr algn="r" indent="0" marL="0">
              <a:buNone/>
            </a:pPr>
            <a:r>
              <a:rPr lang="en-US" sz="900" b="1" dirty="0">
                <a:solidFill>
                  <a:srgbClr val="6366F1"/>
                </a:solidFill>
                <a:latin typeface="Arial" pitchFamily="34" charset="0"/>
                <a:ea typeface="Arial" pitchFamily="34" charset="-122"/>
                <a:cs typeface="Arial" pitchFamily="34" charset="-120"/>
              </a:rPr>
              <a:t>7 / 7</a:t>
            </a:r>
            <a:endParaRPr lang="en-US" sz="900" dirty="0"/>
          </a:p>
        </p:txBody>
      </p:sp>
      <p:sp>
        <p:nvSpPr>
          <p:cNvPr id="5" name="Text 3"/>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Slide 7: Demo + Conclusion</a:t>
            </a:r>
            <a:endParaRPr lang="en-US" sz="2200" dirty="0"/>
          </a:p>
        </p:txBody>
      </p:sp>
      <p:sp>
        <p:nvSpPr>
          <p:cNvPr id="6" name="Shape 4"/>
          <p:cNvSpPr/>
          <p:nvPr/>
        </p:nvSpPr>
        <p:spPr>
          <a:xfrm>
            <a:off x="457200" y="1097280"/>
            <a:ext cx="4023360" cy="5029200"/>
          </a:xfrm>
          <a:prstGeom prst="roundRect">
            <a:avLst>
              <a:gd name="adj" fmla="val 3409"/>
            </a:avLst>
          </a:prstGeom>
          <a:solidFill>
            <a:srgbClr val="161E2E"/>
          </a:solidFill>
          <a:ln w="15240">
            <a:solidFill>
              <a:srgbClr val="06B6D4"/>
            </a:solidFill>
            <a:prstDash val="solid"/>
          </a:ln>
        </p:spPr>
      </p:sp>
      <p:sp>
        <p:nvSpPr>
          <p:cNvPr id="7" name="Text 5"/>
          <p:cNvSpPr/>
          <p:nvPr/>
        </p:nvSpPr>
        <p:spPr>
          <a:xfrm>
            <a:off x="685800" y="1280160"/>
            <a:ext cx="3566160" cy="320040"/>
          </a:xfrm>
          <a:prstGeom prst="rect">
            <a:avLst/>
          </a:prstGeom>
          <a:noFill/>
          <a:ln/>
        </p:spPr>
        <p:txBody>
          <a:bodyPr wrap="square" rtlCol="0" anchor="ctr"/>
          <a:lstStyle/>
          <a:p>
            <a:pPr indent="0" marL="0">
              <a:buNone/>
            </a:pPr>
            <a:r>
              <a:rPr lang="en-US" sz="1200" b="1" dirty="0">
                <a:solidFill>
                  <a:srgbClr val="06B6D4"/>
                </a:solidFill>
                <a:latin typeface="Arial" pitchFamily="34" charset="0"/>
                <a:ea typeface="Arial" pitchFamily="34" charset="-122"/>
                <a:cs typeface="Arial" pitchFamily="34" charset="-120"/>
              </a:rPr>
              <a:t>PROTOTYPE &amp; LIVE DEMO VERIFICATION</a:t>
            </a:r>
            <a:endParaRPr lang="en-US" sz="1200" dirty="0"/>
          </a:p>
        </p:txBody>
      </p:sp>
      <p:sp>
        <p:nvSpPr>
          <p:cNvPr id="8" name="Text 6"/>
          <p:cNvSpPr/>
          <p:nvPr/>
        </p:nvSpPr>
        <p:spPr>
          <a:xfrm>
            <a:off x="685800" y="1691640"/>
            <a:ext cx="3566160" cy="420624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 Live AI-Native Campus Browser: Loaded at `campus://berkeley.edu/pulse/v2` with SSL verification &amp; Serverpod Cloud stream.</a:t>
            </a:r>
            <a:endParaRPr lang="en-US" sz="950" dirty="0"/>
          </a:p>
          <a:p>
            <a:pPr indent="0" marL="0">
              <a:lnSpc>
                <a:spcPct val="115000"/>
              </a:lnSpc>
              <a:buNone/>
            </a:pP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AdaL Multimodal Ingest: Tested live OCR flyer upload, WhatsApp snippet parsing, and voice memo intent resolution.</a:t>
            </a:r>
            <a:endParaRPr lang="en-US" sz="950" dirty="0"/>
          </a:p>
          <a:p>
            <a:pPr indent="0" marL="0">
              <a:lnSpc>
                <a:spcPct val="115000"/>
              </a:lnSpc>
              <a:buNone/>
            </a:pP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Role-Based Governance: 4 authenticated personas (Student Alex Chen, Faculty Prof. Martinez, Club Head Jordan Lee, Admin Dean Holloway).</a:t>
            </a:r>
            <a:endParaRPr lang="en-US" sz="950" dirty="0"/>
          </a:p>
          <a:p>
            <a:pPr indent="0" marL="0">
              <a:lnSpc>
                <a:spcPct val="115000"/>
              </a:lnSpc>
              <a:buNone/>
            </a:pP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Multiplayer Quiz Arena: Playable 15-second timed trivia duel with score multiplier and study buddy challenges.</a:t>
            </a:r>
            <a:endParaRPr lang="en-US" sz="950" dirty="0"/>
          </a:p>
          <a:p>
            <a:pPr indent="0" marL="0">
              <a:lnSpc>
                <a:spcPct val="115000"/>
              </a:lnSpc>
              <a:buNone/>
            </a:pP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 Serverpod Backend Package: Full code in `/serverpod_backend` ready for Serverpod Cloud (`scloud deploy`).</a:t>
            </a:r>
            <a:endParaRPr lang="en-US" sz="950" dirty="0"/>
          </a:p>
        </p:txBody>
      </p:sp>
      <p:sp>
        <p:nvSpPr>
          <p:cNvPr id="9" name="Shape 7"/>
          <p:cNvSpPr/>
          <p:nvPr/>
        </p:nvSpPr>
        <p:spPr>
          <a:xfrm>
            <a:off x="4663440" y="1097280"/>
            <a:ext cx="4023360" cy="5029200"/>
          </a:xfrm>
          <a:prstGeom prst="roundRect">
            <a:avLst>
              <a:gd name="adj" fmla="val 3409"/>
            </a:avLst>
          </a:prstGeom>
          <a:solidFill>
            <a:srgbClr val="161E2E"/>
          </a:solidFill>
          <a:ln w="15240">
            <a:solidFill>
              <a:srgbClr val="10B981"/>
            </a:solidFill>
            <a:prstDash val="solid"/>
          </a:ln>
        </p:spPr>
      </p:sp>
      <p:sp>
        <p:nvSpPr>
          <p:cNvPr id="10" name="Text 8"/>
          <p:cNvSpPr/>
          <p:nvPr/>
        </p:nvSpPr>
        <p:spPr>
          <a:xfrm>
            <a:off x="4892040" y="1280160"/>
            <a:ext cx="3566160" cy="32004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ONE-LINE STRONG CONCLUSION</a:t>
            </a:r>
            <a:endParaRPr lang="en-US" sz="1200" dirty="0"/>
          </a:p>
        </p:txBody>
      </p:sp>
      <p:sp>
        <p:nvSpPr>
          <p:cNvPr id="11" name="Shape 9"/>
          <p:cNvSpPr/>
          <p:nvPr/>
        </p:nvSpPr>
        <p:spPr>
          <a:xfrm>
            <a:off x="4892040" y="1645920"/>
            <a:ext cx="3566160" cy="1097280"/>
          </a:xfrm>
          <a:prstGeom prst="roundRect">
            <a:avLst>
              <a:gd name="adj" fmla="val 8333"/>
            </a:avLst>
          </a:prstGeom>
          <a:solidFill>
            <a:srgbClr val="1E1B4B"/>
          </a:solidFill>
          <a:ln w="12700">
            <a:solidFill>
              <a:srgbClr val="6366F1"/>
            </a:solidFill>
            <a:prstDash val="solid"/>
          </a:ln>
        </p:spPr>
      </p:sp>
      <p:sp>
        <p:nvSpPr>
          <p:cNvPr id="12" name="Text 10"/>
          <p:cNvSpPr/>
          <p:nvPr/>
        </p:nvSpPr>
        <p:spPr>
          <a:xfrm>
            <a:off x="4983480" y="1737360"/>
            <a:ext cx="3383280" cy="914400"/>
          </a:xfrm>
          <a:prstGeom prst="rect">
            <a:avLst/>
          </a:prstGeom>
          <a:noFill/>
          <a:ln/>
        </p:spPr>
        <p:txBody>
          <a:bodyPr wrap="square" rtlCol="0" anchor="ctr"/>
          <a:lstStyle/>
          <a:p>
            <a:pPr indent="0" marL="0">
              <a:lnSpc>
                <a:spcPct val="115000"/>
              </a:lnSpc>
              <a:buNone/>
            </a:pPr>
            <a:r>
              <a:rPr lang="en-US" sz="1050" i="1" dirty="0">
                <a:solidFill>
                  <a:srgbClr val="F8FAFC"/>
                </a:solidFill>
                <a:latin typeface="Arial" pitchFamily="34" charset="0"/>
                <a:ea typeface="Arial" pitchFamily="34" charset="-122"/>
                <a:cs typeface="Arial" pitchFamily="34" charset="-120"/>
              </a:rPr>
              <a:t>"CampusPulse transforms the chaotic fragmentation of student life into an autonomous, proactive intelligence network that empowers every student to thrive academically and socially."</a:t>
            </a:r>
            <a:endParaRPr lang="en-US" sz="1050" dirty="0"/>
          </a:p>
        </p:txBody>
      </p:sp>
      <p:sp>
        <p:nvSpPr>
          <p:cNvPr id="13" name="Text 11"/>
          <p:cNvSpPr/>
          <p:nvPr/>
        </p:nvSpPr>
        <p:spPr>
          <a:xfrm>
            <a:off x="4892040" y="2926080"/>
            <a:ext cx="3566160" cy="32004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WHY THIS SHOULD BE SELECTED</a:t>
            </a:r>
            <a:endParaRPr lang="en-US" sz="1200" dirty="0"/>
          </a:p>
        </p:txBody>
      </p:sp>
      <p:sp>
        <p:nvSpPr>
          <p:cNvPr id="14" name="Text 12"/>
          <p:cNvSpPr/>
          <p:nvPr/>
        </p:nvSpPr>
        <p:spPr>
          <a:xfrm>
            <a:off x="4892040" y="3337560"/>
            <a:ext cx="3566160" cy="2560320"/>
          </a:xfrm>
          <a:prstGeom prst="rect">
            <a:avLst/>
          </a:prstGeom>
          <a:noFill/>
          <a:ln/>
        </p:spPr>
        <p:txBody>
          <a:bodyPr wrap="square" rtlCol="0" anchor="ctr"/>
          <a:lstStyle/>
          <a:p>
            <a:pPr indent="0" marL="0">
              <a:lnSpc>
                <a:spcPct val="115000"/>
              </a:lnSpc>
              <a:buNone/>
            </a:pPr>
            <a:r>
              <a:rPr lang="en-US" sz="950" dirty="0">
                <a:solidFill>
                  <a:srgbClr val="F8FAFC"/>
                </a:solidFill>
                <a:latin typeface="Arial" pitchFamily="34" charset="0"/>
                <a:ea typeface="Arial" pitchFamily="34" charset="-122"/>
                <a:cs typeface="Arial" pitchFamily="34" charset="-120"/>
              </a:rPr>
              <a:t>1. 100% Track Fidelity: Complete Flutter client + genuine Serverpod backend + Serverpod Cloud Starter tier deployment instructions.</a:t>
            </a:r>
            <a:endParaRPr lang="en-US" sz="950" dirty="0"/>
          </a:p>
          <a:p>
            <a:pPr indent="0" marL="0">
              <a:lnSpc>
                <a:spcPct val="115000"/>
              </a:lnSpc>
              <a:buNone/>
            </a:pP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2. Tri-Feature Mastery: Delivers all 3 recommended hackathon ideas (Study Matcher + Event Feed + Multiplayer Quiz Game).</a:t>
            </a:r>
            <a:endParaRPr lang="en-US" sz="950" dirty="0"/>
          </a:p>
          <a:p>
            <a:pPr indent="0" marL="0">
              <a:lnSpc>
                <a:spcPct val="115000"/>
              </a:lnSpc>
              <a:buNone/>
            </a:pPr>
            <a:endParaRPr lang="en-US" sz="950" dirty="0"/>
          </a:p>
          <a:p>
            <a:pPr indent="0" marL="0">
              <a:lnSpc>
                <a:spcPct val="115000"/>
              </a:lnSpc>
              <a:buNone/>
            </a:pPr>
            <a:r>
              <a:rPr lang="en-US" sz="950" dirty="0">
                <a:solidFill>
                  <a:srgbClr val="F8FAFC"/>
                </a:solidFill>
                <a:latin typeface="Arial" pitchFamily="34" charset="0"/>
                <a:ea typeface="Arial" pitchFamily="34" charset="-122"/>
                <a:cs typeface="Arial" pitchFamily="34" charset="-120"/>
              </a:rPr>
              <a:t>3. Groundbreaking Innovation: Not just a static dashboard, but an autonomous multimodal companion (AdaL) that actively ingests physical posters, WhatsApp chats, and auto-schedules sessions.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University of California,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 AI-Native Campus Browser with AdaL</dc:title>
  <dc:subject>Campus Life, Upgraded (Flutter + Serverpod)</dc:subject>
  <dc:creator>Team AdaL (CampusPulse)</dc:creator>
  <cp:lastModifiedBy>Team AdaL (CampusPulse)</cp:lastModifiedBy>
  <cp:revision>1</cp:revision>
  <dcterms:created xsi:type="dcterms:W3CDTF">2026-10-26T13:30:14Z</dcterms:created>
  <dcterms:modified xsi:type="dcterms:W3CDTF">2026-10-26T13:30:14Z</dcterms:modified>
</cp:coreProperties>
</file>